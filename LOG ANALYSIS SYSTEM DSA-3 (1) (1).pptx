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60" r:id="rId4"/>
    <p:sldId id="261" r:id="rId5"/>
    <p:sldId id="267" r:id="rId6"/>
    <p:sldId id="264" r:id="rId7"/>
    <p:sldId id="265" r:id="rId8"/>
    <p:sldId id="258" r:id="rId9"/>
    <p:sldId id="259" r:id="rId10"/>
    <p:sldId id="270" r:id="rId11"/>
    <p:sldId id="271" r:id="rId12"/>
    <p:sldId id="272" r:id="rId13"/>
    <p:sldId id="266" r:id="rId14"/>
    <p:sldId id="275" r:id="rId15"/>
    <p:sldId id="276" r:id="rId16"/>
    <p:sldId id="262" r:id="rId17"/>
    <p:sldId id="268" r:id="rId18"/>
    <p:sldId id="269" r:id="rId19"/>
    <p:sldId id="273" r:id="rId20"/>
    <p:sldId id="274" r:id="rId21"/>
    <p:sldId id="278" r:id="rId22"/>
    <p:sldId id="277" r:id="rId23"/>
    <p:sldId id="279"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B5D476-0725-4E2D-A577-16E5234D604B}" v="11" dt="2026-08-24T09:36:26.68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5" d="100"/>
          <a:sy n="65" d="100"/>
        </p:scale>
        <p:origin x="724"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I AVISHYA" userId="90eba2fad2e2b40b" providerId="LiveId" clId="{A88F431F-9C52-433F-AE14-6115894C7029}"/>
    <pc:docChg chg="undo redo custSel addSld delSld modSld">
      <pc:chgData name="MATTI AVISHYA" userId="90eba2fad2e2b40b" providerId="LiveId" clId="{A88F431F-9C52-433F-AE14-6115894C7029}" dt="2026-08-24T09:42:17.777" v="340" actId="1076"/>
      <pc:docMkLst>
        <pc:docMk/>
      </pc:docMkLst>
      <pc:sldChg chg="modSp mod">
        <pc:chgData name="MATTI AVISHYA" userId="90eba2fad2e2b40b" providerId="LiveId" clId="{A88F431F-9C52-433F-AE14-6115894C7029}" dt="2026-08-24T07:16:33.581" v="37" actId="113"/>
        <pc:sldMkLst>
          <pc:docMk/>
          <pc:sldMk cId="4019375411" sldId="257"/>
        </pc:sldMkLst>
        <pc:spChg chg="mod">
          <ac:chgData name="MATTI AVISHYA" userId="90eba2fad2e2b40b" providerId="LiveId" clId="{A88F431F-9C52-433F-AE14-6115894C7029}" dt="2026-08-24T07:16:33.581" v="37" actId="113"/>
          <ac:spMkLst>
            <pc:docMk/>
            <pc:sldMk cId="4019375411" sldId="257"/>
            <ac:spMk id="3" creationId="{AF4521E5-0A28-3BE4-8C31-0138293F809B}"/>
          </ac:spMkLst>
        </pc:spChg>
      </pc:sldChg>
      <pc:sldChg chg="modSp new mod">
        <pc:chgData name="MATTI AVISHYA" userId="90eba2fad2e2b40b" providerId="LiveId" clId="{A88F431F-9C52-433F-AE14-6115894C7029}" dt="2026-08-24T07:14:33.566" v="20" actId="12"/>
        <pc:sldMkLst>
          <pc:docMk/>
          <pc:sldMk cId="24106134" sldId="260"/>
        </pc:sldMkLst>
        <pc:spChg chg="mod">
          <ac:chgData name="MATTI AVISHYA" userId="90eba2fad2e2b40b" providerId="LiveId" clId="{A88F431F-9C52-433F-AE14-6115894C7029}" dt="2026-08-24T07:13:25.296" v="12" actId="20577"/>
          <ac:spMkLst>
            <pc:docMk/>
            <pc:sldMk cId="24106134" sldId="260"/>
            <ac:spMk id="2" creationId="{386D5FC4-7A88-5B62-B0FC-293813FC2592}"/>
          </ac:spMkLst>
        </pc:spChg>
        <pc:spChg chg="mod">
          <ac:chgData name="MATTI AVISHYA" userId="90eba2fad2e2b40b" providerId="LiveId" clId="{A88F431F-9C52-433F-AE14-6115894C7029}" dt="2026-08-24T07:14:33.566" v="20" actId="12"/>
          <ac:spMkLst>
            <pc:docMk/>
            <pc:sldMk cId="24106134" sldId="260"/>
            <ac:spMk id="3" creationId="{E1657DE5-CB8F-AEA9-4174-2A8BBB2CAFC2}"/>
          </ac:spMkLst>
        </pc:spChg>
      </pc:sldChg>
      <pc:sldChg chg="modSp new mod">
        <pc:chgData name="MATTI AVISHYA" userId="90eba2fad2e2b40b" providerId="LiveId" clId="{A88F431F-9C52-433F-AE14-6115894C7029}" dt="2026-08-24T07:15:17.189" v="36" actId="12"/>
        <pc:sldMkLst>
          <pc:docMk/>
          <pc:sldMk cId="1528515043" sldId="261"/>
        </pc:sldMkLst>
        <pc:spChg chg="mod">
          <ac:chgData name="MATTI AVISHYA" userId="90eba2fad2e2b40b" providerId="LiveId" clId="{A88F431F-9C52-433F-AE14-6115894C7029}" dt="2026-08-24T07:15:17.189" v="36" actId="12"/>
          <ac:spMkLst>
            <pc:docMk/>
            <pc:sldMk cId="1528515043" sldId="261"/>
            <ac:spMk id="3" creationId="{064EA2C5-9B01-C586-C2D3-988FCCD721C0}"/>
          </ac:spMkLst>
        </pc:spChg>
      </pc:sldChg>
      <pc:sldChg chg="addSp delSp modSp new mod">
        <pc:chgData name="MATTI AVISHYA" userId="90eba2fad2e2b40b" providerId="LiveId" clId="{A88F431F-9C52-433F-AE14-6115894C7029}" dt="2026-08-24T09:42:17.777" v="340" actId="1076"/>
        <pc:sldMkLst>
          <pc:docMk/>
          <pc:sldMk cId="2862855240" sldId="262"/>
        </pc:sldMkLst>
        <pc:spChg chg="del mod">
          <ac:chgData name="MATTI AVISHYA" userId="90eba2fad2e2b40b" providerId="LiveId" clId="{A88F431F-9C52-433F-AE14-6115894C7029}" dt="2026-08-24T09:39:47.027" v="309" actId="478"/>
          <ac:spMkLst>
            <pc:docMk/>
            <pc:sldMk cId="2862855240" sldId="262"/>
            <ac:spMk id="2" creationId="{F6970144-27B0-C16F-8B16-2A935B1B1FE3}"/>
          </ac:spMkLst>
        </pc:spChg>
        <pc:spChg chg="del mod">
          <ac:chgData name="MATTI AVISHYA" userId="90eba2fad2e2b40b" providerId="LiveId" clId="{A88F431F-9C52-433F-AE14-6115894C7029}" dt="2026-08-24T09:40:32.620" v="314"/>
          <ac:spMkLst>
            <pc:docMk/>
            <pc:sldMk cId="2862855240" sldId="262"/>
            <ac:spMk id="3" creationId="{97A036D2-E075-28AC-6BFA-45294B32E642}"/>
          </ac:spMkLst>
        </pc:spChg>
        <pc:spChg chg="add del mod">
          <ac:chgData name="MATTI AVISHYA" userId="90eba2fad2e2b40b" providerId="LiveId" clId="{A88F431F-9C52-433F-AE14-6115894C7029}" dt="2026-08-24T09:41:48.816" v="334" actId="478"/>
          <ac:spMkLst>
            <pc:docMk/>
            <pc:sldMk cId="2862855240" sldId="262"/>
            <ac:spMk id="5" creationId="{412ABF0D-97C1-CD83-06E6-6645B8E05AFA}"/>
          </ac:spMkLst>
        </pc:spChg>
        <pc:spChg chg="add del mod">
          <ac:chgData name="MATTI AVISHYA" userId="90eba2fad2e2b40b" providerId="LiveId" clId="{A88F431F-9C52-433F-AE14-6115894C7029}" dt="2026-08-24T09:41:52.547" v="335" actId="478"/>
          <ac:spMkLst>
            <pc:docMk/>
            <pc:sldMk cId="2862855240" sldId="262"/>
            <ac:spMk id="9" creationId="{CD5F1A10-7C7D-3505-2664-9B70ABE12E17}"/>
          </ac:spMkLst>
        </pc:spChg>
        <pc:picChg chg="add mod ord">
          <ac:chgData name="MATTI AVISHYA" userId="90eba2fad2e2b40b" providerId="LiveId" clId="{A88F431F-9C52-433F-AE14-6115894C7029}" dt="2026-08-24T09:42:17.777" v="340" actId="1076"/>
          <ac:picMkLst>
            <pc:docMk/>
            <pc:sldMk cId="2862855240" sldId="262"/>
            <ac:picMk id="7" creationId="{2321353A-90E7-E99D-734A-42CCDFA43726}"/>
          </ac:picMkLst>
        </pc:picChg>
      </pc:sldChg>
      <pc:sldChg chg="addSp delSp modSp new add del mod">
        <pc:chgData name="MATTI AVISHYA" userId="90eba2fad2e2b40b" providerId="LiveId" clId="{A88F431F-9C52-433F-AE14-6115894C7029}" dt="2026-08-24T09:35:39.175" v="272" actId="47"/>
        <pc:sldMkLst>
          <pc:docMk/>
          <pc:sldMk cId="2605815990" sldId="263"/>
        </pc:sldMkLst>
        <pc:spChg chg="add del mod">
          <ac:chgData name="MATTI AVISHYA" userId="90eba2fad2e2b40b" providerId="LiveId" clId="{A88F431F-9C52-433F-AE14-6115894C7029}" dt="2026-08-24T08:17:08.115" v="163" actId="478"/>
          <ac:spMkLst>
            <pc:docMk/>
            <pc:sldMk cId="2605815990" sldId="263"/>
            <ac:spMk id="2" creationId="{7ADB942B-2BD8-B0BB-CD74-7A2CC84A26EE}"/>
          </ac:spMkLst>
        </pc:spChg>
        <pc:spChg chg="mod">
          <ac:chgData name="MATTI AVISHYA" userId="90eba2fad2e2b40b" providerId="LiveId" clId="{A88F431F-9C52-433F-AE14-6115894C7029}" dt="2026-08-24T09:35:01.118" v="269" actId="20577"/>
          <ac:spMkLst>
            <pc:docMk/>
            <pc:sldMk cId="2605815990" sldId="263"/>
            <ac:spMk id="3" creationId="{4206EB02-3F70-8C67-50C8-B877A8DD5D05}"/>
          </ac:spMkLst>
        </pc:spChg>
      </pc:sldChg>
      <pc:sldChg chg="new del">
        <pc:chgData name="MATTI AVISHYA" userId="90eba2fad2e2b40b" providerId="LiveId" clId="{A88F431F-9C52-433F-AE14-6115894C7029}" dt="2026-08-24T08:16:47.716" v="142" actId="680"/>
        <pc:sldMkLst>
          <pc:docMk/>
          <pc:sldMk cId="442498142" sldId="264"/>
        </pc:sldMkLst>
      </pc:sldChg>
      <pc:sldChg chg="new del">
        <pc:chgData name="MATTI AVISHYA" userId="90eba2fad2e2b40b" providerId="LiveId" clId="{A88F431F-9C52-433F-AE14-6115894C7029}" dt="2026-08-24T08:15:18.004" v="104" actId="680"/>
        <pc:sldMkLst>
          <pc:docMk/>
          <pc:sldMk cId="2668063722" sldId="264"/>
        </pc:sldMkLst>
      </pc:sldChg>
      <pc:sldChg chg="delSp modSp new mod">
        <pc:chgData name="MATTI AVISHYA" userId="90eba2fad2e2b40b" providerId="LiveId" clId="{A88F431F-9C52-433F-AE14-6115894C7029}" dt="2026-08-24T08:20:05.351" v="198" actId="255"/>
        <pc:sldMkLst>
          <pc:docMk/>
          <pc:sldMk cId="3791834335" sldId="264"/>
        </pc:sldMkLst>
        <pc:spChg chg="del">
          <ac:chgData name="MATTI AVISHYA" userId="90eba2fad2e2b40b" providerId="LiveId" clId="{A88F431F-9C52-433F-AE14-6115894C7029}" dt="2026-08-24T08:18:07.767" v="174" actId="478"/>
          <ac:spMkLst>
            <pc:docMk/>
            <pc:sldMk cId="3791834335" sldId="264"/>
            <ac:spMk id="2" creationId="{9FCE53DC-02F6-3A61-5129-1ED535F2D1A7}"/>
          </ac:spMkLst>
        </pc:spChg>
        <pc:spChg chg="mod">
          <ac:chgData name="MATTI AVISHYA" userId="90eba2fad2e2b40b" providerId="LiveId" clId="{A88F431F-9C52-433F-AE14-6115894C7029}" dt="2026-08-24T08:20:05.351" v="198" actId="255"/>
          <ac:spMkLst>
            <pc:docMk/>
            <pc:sldMk cId="3791834335" sldId="264"/>
            <ac:spMk id="3" creationId="{34C1D854-CBFD-BD5D-3116-CD95E0E9D223}"/>
          </ac:spMkLst>
        </pc:spChg>
      </pc:sldChg>
      <pc:sldChg chg="delSp modSp new mod">
        <pc:chgData name="MATTI AVISHYA" userId="90eba2fad2e2b40b" providerId="LiveId" clId="{A88F431F-9C52-433F-AE14-6115894C7029}" dt="2026-08-24T08:22:18.939" v="225" actId="27636"/>
        <pc:sldMkLst>
          <pc:docMk/>
          <pc:sldMk cId="3845349704" sldId="265"/>
        </pc:sldMkLst>
        <pc:spChg chg="del">
          <ac:chgData name="MATTI AVISHYA" userId="90eba2fad2e2b40b" providerId="LiveId" clId="{A88F431F-9C52-433F-AE14-6115894C7029}" dt="2026-08-24T08:20:48.457" v="199" actId="478"/>
          <ac:spMkLst>
            <pc:docMk/>
            <pc:sldMk cId="3845349704" sldId="265"/>
            <ac:spMk id="2" creationId="{DB052A42-62E5-6CF6-E3FE-CDC9C3F48A6F}"/>
          </ac:spMkLst>
        </pc:spChg>
        <pc:spChg chg="mod">
          <ac:chgData name="MATTI AVISHYA" userId="90eba2fad2e2b40b" providerId="LiveId" clId="{A88F431F-9C52-433F-AE14-6115894C7029}" dt="2026-08-24T08:22:18.939" v="225" actId="27636"/>
          <ac:spMkLst>
            <pc:docMk/>
            <pc:sldMk cId="3845349704" sldId="265"/>
            <ac:spMk id="3" creationId="{43F36E28-8735-E880-D5B4-CBD3583E9025}"/>
          </ac:spMkLst>
        </pc:spChg>
      </pc:sldChg>
      <pc:sldChg chg="modSp new mod">
        <pc:chgData name="MATTI AVISHYA" userId="90eba2fad2e2b40b" providerId="LiveId" clId="{A88F431F-9C52-433F-AE14-6115894C7029}" dt="2026-08-24T08:23:30.552" v="244" actId="12"/>
        <pc:sldMkLst>
          <pc:docMk/>
          <pc:sldMk cId="2776414892" sldId="266"/>
        </pc:sldMkLst>
        <pc:spChg chg="mod">
          <ac:chgData name="MATTI AVISHYA" userId="90eba2fad2e2b40b" providerId="LiveId" clId="{A88F431F-9C52-433F-AE14-6115894C7029}" dt="2026-08-24T08:23:06.875" v="238" actId="20577"/>
          <ac:spMkLst>
            <pc:docMk/>
            <pc:sldMk cId="2776414892" sldId="266"/>
            <ac:spMk id="2" creationId="{038C90FB-B686-18AA-C94E-706C1E13F31C}"/>
          </ac:spMkLst>
        </pc:spChg>
        <pc:spChg chg="mod">
          <ac:chgData name="MATTI AVISHYA" userId="90eba2fad2e2b40b" providerId="LiveId" clId="{A88F431F-9C52-433F-AE14-6115894C7029}" dt="2026-08-24T08:23:30.552" v="244" actId="12"/>
          <ac:spMkLst>
            <pc:docMk/>
            <pc:sldMk cId="2776414892" sldId="266"/>
            <ac:spMk id="3" creationId="{A9916A62-0ABC-0591-37D9-3E8CE38BBF5F}"/>
          </ac:spMkLst>
        </pc:spChg>
      </pc:sldChg>
      <pc:sldChg chg="new del">
        <pc:chgData name="MATTI AVISHYA" userId="90eba2fad2e2b40b" providerId="LiveId" clId="{A88F431F-9C52-433F-AE14-6115894C7029}" dt="2026-08-24T08:22:52.028" v="227" actId="47"/>
        <pc:sldMkLst>
          <pc:docMk/>
          <pc:sldMk cId="3794967692" sldId="266"/>
        </pc:sldMkLst>
      </pc:sldChg>
      <pc:sldChg chg="modSp new mod">
        <pc:chgData name="MATTI AVISHYA" userId="90eba2fad2e2b40b" providerId="LiveId" clId="{A88F431F-9C52-433F-AE14-6115894C7029}" dt="2026-08-24T09:36:43.877" v="308" actId="27636"/>
        <pc:sldMkLst>
          <pc:docMk/>
          <pc:sldMk cId="1919536256" sldId="267"/>
        </pc:sldMkLst>
        <pc:spChg chg="mod">
          <ac:chgData name="MATTI AVISHYA" userId="90eba2fad2e2b40b" providerId="LiveId" clId="{A88F431F-9C52-433F-AE14-6115894C7029}" dt="2026-08-24T09:36:30.347" v="303" actId="14100"/>
          <ac:spMkLst>
            <pc:docMk/>
            <pc:sldMk cId="1919536256" sldId="267"/>
            <ac:spMk id="2" creationId="{25A3CA13-C4E7-3463-0F15-C186988BB0E3}"/>
          </ac:spMkLst>
        </pc:spChg>
        <pc:spChg chg="mod">
          <ac:chgData name="MATTI AVISHYA" userId="90eba2fad2e2b40b" providerId="LiveId" clId="{A88F431F-9C52-433F-AE14-6115894C7029}" dt="2026-08-24T09:36:43.877" v="308" actId="27636"/>
          <ac:spMkLst>
            <pc:docMk/>
            <pc:sldMk cId="1919536256" sldId="267"/>
            <ac:spMk id="3" creationId="{71D99152-E4D7-AE0A-7C82-2B5C83FC4345}"/>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EF58D-B62B-40BB-83AA-9D07CFC4ED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6AC06D3-F571-4213-A2A4-6A1915120C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5A10580-AD31-4B8F-8448-55A666AC1725}"/>
              </a:ext>
            </a:extLst>
          </p:cNvPr>
          <p:cNvSpPr>
            <a:spLocks noGrp="1"/>
          </p:cNvSpPr>
          <p:nvPr>
            <p:ph type="dt" sz="half" idx="10"/>
          </p:nvPr>
        </p:nvSpPr>
        <p:spPr/>
        <p:txBody>
          <a:bodyPr/>
          <a:lstStyle/>
          <a:p>
            <a:fld id="{0DAF61AA-5A98-4049-A93E-477E5505141A}" type="datetimeFigureOut">
              <a:rPr lang="en-US" smtClean="0"/>
              <a:t>8/31/2026</a:t>
            </a:fld>
            <a:endParaRPr lang="en-US" dirty="0"/>
          </a:p>
        </p:txBody>
      </p:sp>
      <p:sp>
        <p:nvSpPr>
          <p:cNvPr id="5" name="Footer Placeholder 4">
            <a:extLst>
              <a:ext uri="{FF2B5EF4-FFF2-40B4-BE49-F238E27FC236}">
                <a16:creationId xmlns:a16="http://schemas.microsoft.com/office/drawing/2014/main" id="{15EC99C8-515A-4FEA-9CD2-6D0BF46CF6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72AF1B-1868-4C05-B6C3-9EBF29A50AD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2465858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6D384-B2C5-42A4-9774-A931C39BA5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8D736C-5FCC-43BC-B824-A90F2CC5D1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4A3A50-B922-45BE-945D-7ED3EBD83F7C}"/>
              </a:ext>
            </a:extLst>
          </p:cNvPr>
          <p:cNvSpPr>
            <a:spLocks noGrp="1"/>
          </p:cNvSpPr>
          <p:nvPr>
            <p:ph type="dt" sz="half" idx="10"/>
          </p:nvPr>
        </p:nvSpPr>
        <p:spPr/>
        <p:txBody>
          <a:bodyPr/>
          <a:lstStyle/>
          <a:p>
            <a:fld id="{0DAF61AA-5A98-4049-A93E-477E5505141A}" type="datetimeFigureOut">
              <a:rPr lang="en-US" smtClean="0"/>
              <a:t>8/31/2026</a:t>
            </a:fld>
            <a:endParaRPr lang="en-US"/>
          </a:p>
        </p:txBody>
      </p:sp>
      <p:sp>
        <p:nvSpPr>
          <p:cNvPr id="5" name="Footer Placeholder 4">
            <a:extLst>
              <a:ext uri="{FF2B5EF4-FFF2-40B4-BE49-F238E27FC236}">
                <a16:creationId xmlns:a16="http://schemas.microsoft.com/office/drawing/2014/main" id="{64241F78-20DE-4D53-BB25-79E5C4E1AB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643084-C669-4FDF-87D4-F22D36BB827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42496486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6C559-800C-489A-9174-7901F92B0D4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142B5C3-320B-4CFD-B6A7-A28C7E435B4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FCA372-3F42-4113-A73B-5FDCF93CB5BC}"/>
              </a:ext>
            </a:extLst>
          </p:cNvPr>
          <p:cNvSpPr>
            <a:spLocks noGrp="1"/>
          </p:cNvSpPr>
          <p:nvPr>
            <p:ph type="dt" sz="half" idx="10"/>
          </p:nvPr>
        </p:nvSpPr>
        <p:spPr/>
        <p:txBody>
          <a:bodyPr/>
          <a:lstStyle/>
          <a:p>
            <a:fld id="{0DAF61AA-5A98-4049-A93E-477E5505141A}" type="datetimeFigureOut">
              <a:rPr lang="en-US" smtClean="0"/>
              <a:t>8/31/2026</a:t>
            </a:fld>
            <a:endParaRPr lang="en-US"/>
          </a:p>
        </p:txBody>
      </p:sp>
      <p:sp>
        <p:nvSpPr>
          <p:cNvPr id="5" name="Footer Placeholder 4">
            <a:extLst>
              <a:ext uri="{FF2B5EF4-FFF2-40B4-BE49-F238E27FC236}">
                <a16:creationId xmlns:a16="http://schemas.microsoft.com/office/drawing/2014/main" id="{F0DA1197-0C78-4878-B086-5D206EA491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B83D8-FD42-44FF-AA20-944A519CC0B2}"/>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9841944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685AA-B5C7-4E3D-85FA-94F3C73E59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3AFEEA-6F3F-4630-A950-61C05D2FAFB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C36817-B869-4D19-9EE8-A3166B0E159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C074146-2374-4321-AEBB-3E9B09D7796D}"/>
              </a:ext>
            </a:extLst>
          </p:cNvPr>
          <p:cNvSpPr>
            <a:spLocks noGrp="1"/>
          </p:cNvSpPr>
          <p:nvPr>
            <p:ph type="dt" sz="half" idx="10"/>
          </p:nvPr>
        </p:nvSpPr>
        <p:spPr/>
        <p:txBody>
          <a:bodyPr/>
          <a:lstStyle/>
          <a:p>
            <a:fld id="{0DAF61AA-5A98-4049-A93E-477E5505141A}" type="datetimeFigureOut">
              <a:rPr lang="en-US" smtClean="0"/>
              <a:t>8/31/2026</a:t>
            </a:fld>
            <a:endParaRPr lang="en-US"/>
          </a:p>
        </p:txBody>
      </p:sp>
      <p:sp>
        <p:nvSpPr>
          <p:cNvPr id="6" name="Footer Placeholder 5">
            <a:extLst>
              <a:ext uri="{FF2B5EF4-FFF2-40B4-BE49-F238E27FC236}">
                <a16:creationId xmlns:a16="http://schemas.microsoft.com/office/drawing/2014/main" id="{2C42337B-B902-4DC2-BB94-02B8A75492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4AD585-B83C-4ECF-AF42-8DDF6996B79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7557528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A9ADB-3495-481F-BB4E-9C7128B17B1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ED6FF4C-26CB-4281-A2F7-6CBE451867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2E72A9-F222-45B4-9355-C04C058641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A699F6E-77AD-4EBC-BAF9-5A43CDEC41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F77677-7169-4591-B047-0678815F48E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482A6EB-0285-4FA4-A00C-A7F716084FD3}"/>
              </a:ext>
            </a:extLst>
          </p:cNvPr>
          <p:cNvSpPr>
            <a:spLocks noGrp="1"/>
          </p:cNvSpPr>
          <p:nvPr>
            <p:ph type="dt" sz="half" idx="10"/>
          </p:nvPr>
        </p:nvSpPr>
        <p:spPr/>
        <p:txBody>
          <a:bodyPr/>
          <a:lstStyle/>
          <a:p>
            <a:fld id="{0DAF61AA-5A98-4049-A93E-477E5505141A}" type="datetimeFigureOut">
              <a:rPr lang="en-US" smtClean="0"/>
              <a:t>8/31/2026</a:t>
            </a:fld>
            <a:endParaRPr lang="en-US"/>
          </a:p>
        </p:txBody>
      </p:sp>
      <p:sp>
        <p:nvSpPr>
          <p:cNvPr id="8" name="Footer Placeholder 7">
            <a:extLst>
              <a:ext uri="{FF2B5EF4-FFF2-40B4-BE49-F238E27FC236}">
                <a16:creationId xmlns:a16="http://schemas.microsoft.com/office/drawing/2014/main" id="{86D39526-82B8-402C-8A2B-82EF8F3F3A7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55EC9E6-6FF1-4541-9CB1-A2FF9D852169}"/>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776649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70F54-6CED-4251-A0A6-32CCD1213F8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572C8E6-49D6-46A5-8DC3-B0D8E683C9CB}"/>
              </a:ext>
            </a:extLst>
          </p:cNvPr>
          <p:cNvSpPr>
            <a:spLocks noGrp="1"/>
          </p:cNvSpPr>
          <p:nvPr>
            <p:ph type="dt" sz="half" idx="10"/>
          </p:nvPr>
        </p:nvSpPr>
        <p:spPr/>
        <p:txBody>
          <a:bodyPr/>
          <a:lstStyle/>
          <a:p>
            <a:fld id="{0DAF61AA-5A98-4049-A93E-477E5505141A}" type="datetimeFigureOut">
              <a:rPr lang="en-US" smtClean="0"/>
              <a:t>8/31/2026</a:t>
            </a:fld>
            <a:endParaRPr lang="en-US"/>
          </a:p>
        </p:txBody>
      </p:sp>
      <p:sp>
        <p:nvSpPr>
          <p:cNvPr id="4" name="Footer Placeholder 3">
            <a:extLst>
              <a:ext uri="{FF2B5EF4-FFF2-40B4-BE49-F238E27FC236}">
                <a16:creationId xmlns:a16="http://schemas.microsoft.com/office/drawing/2014/main" id="{AB883CBA-77CD-4490-A5F3-BAA8FC254A3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EA5FF79-61B6-4693-8547-95B1F2F7A194}"/>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5841848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BDCB94-13E9-41CB-88F0-D30A1791DCBA}"/>
              </a:ext>
            </a:extLst>
          </p:cNvPr>
          <p:cNvSpPr>
            <a:spLocks noGrp="1"/>
          </p:cNvSpPr>
          <p:nvPr>
            <p:ph type="dt" sz="half" idx="10"/>
          </p:nvPr>
        </p:nvSpPr>
        <p:spPr/>
        <p:txBody>
          <a:bodyPr/>
          <a:lstStyle/>
          <a:p>
            <a:fld id="{0DAF61AA-5A98-4049-A93E-477E5505141A}" type="datetimeFigureOut">
              <a:rPr lang="en-US" smtClean="0"/>
              <a:t>8/31/2026</a:t>
            </a:fld>
            <a:endParaRPr lang="en-US"/>
          </a:p>
        </p:txBody>
      </p:sp>
      <p:sp>
        <p:nvSpPr>
          <p:cNvPr id="3" name="Footer Placeholder 2">
            <a:extLst>
              <a:ext uri="{FF2B5EF4-FFF2-40B4-BE49-F238E27FC236}">
                <a16:creationId xmlns:a16="http://schemas.microsoft.com/office/drawing/2014/main" id="{244795A4-736C-426D-8559-5AD5892756A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B2A2ACD-17F3-4C16-8E77-86EC92CCD552}"/>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2101746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FCB2E-B68A-48F9-8B20-CDED818FB6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D081C83-64B5-4BFD-A163-75C2EA7F89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25D44AD-E361-48A3-936D-DDA0D51445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EED06C-E016-489C-8863-EA1BE998BC48}"/>
              </a:ext>
            </a:extLst>
          </p:cNvPr>
          <p:cNvSpPr>
            <a:spLocks noGrp="1"/>
          </p:cNvSpPr>
          <p:nvPr>
            <p:ph type="dt" sz="half" idx="10"/>
          </p:nvPr>
        </p:nvSpPr>
        <p:spPr/>
        <p:txBody>
          <a:bodyPr/>
          <a:lstStyle/>
          <a:p>
            <a:fld id="{0DAF61AA-5A98-4049-A93E-477E5505141A}" type="datetimeFigureOut">
              <a:rPr lang="en-US" smtClean="0"/>
              <a:t>8/31/2026</a:t>
            </a:fld>
            <a:endParaRPr lang="en-US"/>
          </a:p>
        </p:txBody>
      </p:sp>
      <p:sp>
        <p:nvSpPr>
          <p:cNvPr id="6" name="Footer Placeholder 5">
            <a:extLst>
              <a:ext uri="{FF2B5EF4-FFF2-40B4-BE49-F238E27FC236}">
                <a16:creationId xmlns:a16="http://schemas.microsoft.com/office/drawing/2014/main" id="{359161F0-D253-49A7-9A08-7A0A228146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42C61A-B326-40A7-A286-90D0544BBC34}"/>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2122260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2DF6F-D00F-4CE4-8701-B006273461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A0FF7AB-F851-4425-8407-996C920E68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2ED6CF5-154F-4615-8CDC-E2BFA61FAB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A5C400-0D13-495F-8C4E-EC3CDF5F22AF}"/>
              </a:ext>
            </a:extLst>
          </p:cNvPr>
          <p:cNvSpPr>
            <a:spLocks noGrp="1"/>
          </p:cNvSpPr>
          <p:nvPr>
            <p:ph type="dt" sz="half" idx="10"/>
          </p:nvPr>
        </p:nvSpPr>
        <p:spPr/>
        <p:txBody>
          <a:bodyPr/>
          <a:lstStyle/>
          <a:p>
            <a:fld id="{0DAF61AA-5A98-4049-A93E-477E5505141A}" type="datetimeFigureOut">
              <a:rPr lang="en-US" smtClean="0"/>
              <a:t>8/31/2026</a:t>
            </a:fld>
            <a:endParaRPr lang="en-US"/>
          </a:p>
        </p:txBody>
      </p:sp>
      <p:sp>
        <p:nvSpPr>
          <p:cNvPr id="6" name="Footer Placeholder 5">
            <a:extLst>
              <a:ext uri="{FF2B5EF4-FFF2-40B4-BE49-F238E27FC236}">
                <a16:creationId xmlns:a16="http://schemas.microsoft.com/office/drawing/2014/main" id="{4CB290D7-98AC-45E5-A7D6-73520AFC73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94276C-2BD2-4C4F-AC04-DD3D73768A5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1602448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170B0-C1C5-4976-80E8-6B4F90EB362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7593EE-493E-4BCE-8992-24CA63E1E0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80919F-FDDD-42FB-8422-A0665D558D00}"/>
              </a:ext>
            </a:extLst>
          </p:cNvPr>
          <p:cNvSpPr>
            <a:spLocks noGrp="1"/>
          </p:cNvSpPr>
          <p:nvPr>
            <p:ph type="dt" sz="half" idx="10"/>
          </p:nvPr>
        </p:nvSpPr>
        <p:spPr/>
        <p:txBody>
          <a:bodyPr/>
          <a:lstStyle/>
          <a:p>
            <a:fld id="{0DAF61AA-5A98-4049-A93E-477E5505141A}" type="datetimeFigureOut">
              <a:rPr lang="en-US" smtClean="0"/>
              <a:t>8/31/2026</a:t>
            </a:fld>
            <a:endParaRPr lang="en-US"/>
          </a:p>
        </p:txBody>
      </p:sp>
      <p:sp>
        <p:nvSpPr>
          <p:cNvPr id="5" name="Footer Placeholder 4">
            <a:extLst>
              <a:ext uri="{FF2B5EF4-FFF2-40B4-BE49-F238E27FC236}">
                <a16:creationId xmlns:a16="http://schemas.microsoft.com/office/drawing/2014/main" id="{A216D38A-35F8-4667-A1F4-49644471E9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9CC230-78B7-487B-9C95-CB00868F6F1F}"/>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3587080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4CB826-D9AA-4689-B8C0-38D999F0D06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61F1CDD-16FB-45E0-9887-24374C5676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846397-BBD2-4426-B1F5-FD6EA3CDC866}"/>
              </a:ext>
            </a:extLst>
          </p:cNvPr>
          <p:cNvSpPr>
            <a:spLocks noGrp="1"/>
          </p:cNvSpPr>
          <p:nvPr>
            <p:ph type="dt" sz="half" idx="10"/>
          </p:nvPr>
        </p:nvSpPr>
        <p:spPr/>
        <p:txBody>
          <a:bodyPr/>
          <a:lstStyle/>
          <a:p>
            <a:fld id="{0DAF61AA-5A98-4049-A93E-477E5505141A}" type="datetimeFigureOut">
              <a:rPr lang="en-US" smtClean="0"/>
              <a:t>8/31/2026</a:t>
            </a:fld>
            <a:endParaRPr lang="en-US"/>
          </a:p>
        </p:txBody>
      </p:sp>
      <p:sp>
        <p:nvSpPr>
          <p:cNvPr id="5" name="Footer Placeholder 4">
            <a:extLst>
              <a:ext uri="{FF2B5EF4-FFF2-40B4-BE49-F238E27FC236}">
                <a16:creationId xmlns:a16="http://schemas.microsoft.com/office/drawing/2014/main" id="{FDAB91E4-73D0-4ACD-8F54-00EE6FB1D6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B28C61-59FE-44D6-A7D6-AAD292232778}"/>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097955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47A131F-D5DE-41A5-B4CF-4F345319B40B}"/>
              </a:ext>
            </a:extLst>
          </p:cNvPr>
          <p:cNvSpPr/>
          <p:nvPr/>
        </p:nvSpPr>
        <p:spPr>
          <a:xfrm>
            <a:off x="0" y="0"/>
            <a:ext cx="12188952" cy="6858000"/>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8" name="Freeform: Shape 7">
            <a:extLst>
              <a:ext uri="{FF2B5EF4-FFF2-40B4-BE49-F238E27FC236}">
                <a16:creationId xmlns:a16="http://schemas.microsoft.com/office/drawing/2014/main" id="{3AF4666D-BD98-40A5-A75F-478B982010B2}"/>
              </a:ext>
            </a:extLst>
          </p:cNvPr>
          <p:cNvSpPr/>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tx1">
                    <a:lumMod val="65000"/>
                    <a:lumOff val="35000"/>
                  </a:schemeClr>
                </a:solidFill>
                <a:latin typeface="AvenirNext LT Pro Medium" panose="020B0504020202020204" pitchFamily="34" charset="0"/>
              </a:rPr>
              <a:t> </a:t>
            </a:r>
          </a:p>
        </p:txBody>
      </p:sp>
      <p:sp>
        <p:nvSpPr>
          <p:cNvPr id="9" name="Freeform: Shape 8">
            <a:extLst>
              <a:ext uri="{FF2B5EF4-FFF2-40B4-BE49-F238E27FC236}">
                <a16:creationId xmlns:a16="http://schemas.microsoft.com/office/drawing/2014/main" id="{68680585-71F9-4721-A998-4974171D2EB4}"/>
              </a:ext>
            </a:extLst>
          </p:cNvPr>
          <p:cNvSpPr/>
          <p:nvPr/>
        </p:nvSpPr>
        <p:spPr>
          <a:xfrm>
            <a:off x="10439256" y="6172200"/>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tx1">
                    <a:lumMod val="65000"/>
                    <a:lumOff val="35000"/>
                  </a:schemeClr>
                </a:solidFill>
                <a:latin typeface="AvenirNext LT Pro Medium" panose="020B0504020202020204" pitchFamily="34" charset="0"/>
              </a:rPr>
              <a:t> </a:t>
            </a:r>
          </a:p>
        </p:txBody>
      </p:sp>
      <p:sp>
        <p:nvSpPr>
          <p:cNvPr id="10" name="Freeform: Shape 9">
            <a:extLst>
              <a:ext uri="{FF2B5EF4-FFF2-40B4-BE49-F238E27FC236}">
                <a16:creationId xmlns:a16="http://schemas.microsoft.com/office/drawing/2014/main" id="{12BC95C2-2EEC-4F59-ABA8-660B0D059CCF}"/>
              </a:ext>
            </a:extLst>
          </p:cNvPr>
          <p:cNvSpPr/>
          <p:nvPr/>
        </p:nvSpPr>
        <p:spPr>
          <a:xfrm>
            <a:off x="7977352"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1" name="Graphic 141">
            <a:extLst>
              <a:ext uri="{FF2B5EF4-FFF2-40B4-BE49-F238E27FC236}">
                <a16:creationId xmlns:a16="http://schemas.microsoft.com/office/drawing/2014/main" id="{03E9870D-4BBA-43AF-8D44-BBADF020CFF6}"/>
              </a:ext>
            </a:extLst>
          </p:cNvPr>
          <p:cNvGrpSpPr/>
          <p:nvPr/>
        </p:nvGrpSpPr>
        <p:grpSpPr>
          <a:xfrm>
            <a:off x="10849" y="15178"/>
            <a:ext cx="2198951" cy="3331254"/>
            <a:chOff x="4473129" y="923925"/>
            <a:chExt cx="3308947" cy="5012817"/>
          </a:xfrm>
          <a:noFill/>
        </p:grpSpPr>
        <p:sp>
          <p:nvSpPr>
            <p:cNvPr id="12" name="Freeform: Shape 11">
              <a:extLst>
                <a:ext uri="{FF2B5EF4-FFF2-40B4-BE49-F238E27FC236}">
                  <a16:creationId xmlns:a16="http://schemas.microsoft.com/office/drawing/2014/main" id="{34BC5055-C77D-43CD-BB1D-A77B6779CDAD}"/>
                </a:ext>
              </a:extLst>
            </p:cNvPr>
            <p:cNvSpPr/>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75000"/>
                </a:schemeClr>
              </a:solidFill>
              <a:prstDash val="lgDash"/>
              <a:round/>
            </a:ln>
          </p:spPr>
          <p:txBody>
            <a:bodyPr rtlCol="0" anchor="ctr"/>
            <a:lstStyle/>
            <a:p>
              <a:endParaRPr lang="en-US"/>
            </a:p>
          </p:txBody>
        </p:sp>
        <p:sp>
          <p:nvSpPr>
            <p:cNvPr id="13" name="Freeform: Shape 12">
              <a:extLst>
                <a:ext uri="{FF2B5EF4-FFF2-40B4-BE49-F238E27FC236}">
                  <a16:creationId xmlns:a16="http://schemas.microsoft.com/office/drawing/2014/main" id="{DB12D0B8-9385-489A-85AE-3D14AD0BA2FC}"/>
                </a:ext>
              </a:extLst>
            </p:cNvPr>
            <p:cNvSpPr/>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75000"/>
                </a:schemeClr>
              </a:solidFill>
              <a:prstDash val="lgDash"/>
              <a:round/>
            </a:ln>
          </p:spPr>
          <p:txBody>
            <a:bodyPr rtlCol="0" anchor="ctr"/>
            <a:lstStyle/>
            <a:p>
              <a:endParaRPr lang="en-US"/>
            </a:p>
          </p:txBody>
        </p:sp>
        <p:sp>
          <p:nvSpPr>
            <p:cNvPr id="14" name="Freeform: Shape 13">
              <a:extLst>
                <a:ext uri="{FF2B5EF4-FFF2-40B4-BE49-F238E27FC236}">
                  <a16:creationId xmlns:a16="http://schemas.microsoft.com/office/drawing/2014/main" id="{D158A14A-147E-4130-A5E2-38FD84B181AF}"/>
                </a:ext>
              </a:extLst>
            </p:cNvPr>
            <p:cNvSpPr/>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75000"/>
                </a:schemeClr>
              </a:solidFill>
              <a:prstDash val="lgDash"/>
              <a:round/>
            </a:ln>
          </p:spPr>
          <p:txBody>
            <a:bodyPr rtlCol="0" anchor="ctr"/>
            <a:lstStyle/>
            <a:p>
              <a:endParaRPr lang="en-US"/>
            </a:p>
          </p:txBody>
        </p:sp>
        <p:sp>
          <p:nvSpPr>
            <p:cNvPr id="15" name="Freeform: Shape 14">
              <a:extLst>
                <a:ext uri="{FF2B5EF4-FFF2-40B4-BE49-F238E27FC236}">
                  <a16:creationId xmlns:a16="http://schemas.microsoft.com/office/drawing/2014/main" id="{75B8B1EB-5E2B-472C-AE60-2EC5961F16F9}"/>
                </a:ext>
              </a:extLst>
            </p:cNvPr>
            <p:cNvSpPr/>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75000"/>
                </a:schemeClr>
              </a:solidFill>
              <a:prstDash val="lgDash"/>
              <a:round/>
            </a:ln>
          </p:spPr>
          <p:txBody>
            <a:bodyPr rtlCol="0" anchor="ctr"/>
            <a:lstStyle/>
            <a:p>
              <a:endParaRPr lang="en-US"/>
            </a:p>
          </p:txBody>
        </p:sp>
        <p:sp>
          <p:nvSpPr>
            <p:cNvPr id="16" name="Freeform: Shape 15">
              <a:extLst>
                <a:ext uri="{FF2B5EF4-FFF2-40B4-BE49-F238E27FC236}">
                  <a16:creationId xmlns:a16="http://schemas.microsoft.com/office/drawing/2014/main" id="{B4F5BD77-58D7-4B61-A666-1B4139A63A28}"/>
                </a:ext>
              </a:extLst>
            </p:cNvPr>
            <p:cNvSpPr/>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75000"/>
                </a:schemeClr>
              </a:solidFill>
              <a:prstDash val="lgDash"/>
              <a:round/>
            </a:ln>
          </p:spPr>
          <p:txBody>
            <a:bodyPr rtlCol="0" anchor="ctr"/>
            <a:lstStyle/>
            <a:p>
              <a:endParaRPr lang="en-US"/>
            </a:p>
          </p:txBody>
        </p:sp>
        <p:sp>
          <p:nvSpPr>
            <p:cNvPr id="17" name="Freeform: Shape 16">
              <a:extLst>
                <a:ext uri="{FF2B5EF4-FFF2-40B4-BE49-F238E27FC236}">
                  <a16:creationId xmlns:a16="http://schemas.microsoft.com/office/drawing/2014/main" id="{F5CBEC6B-EDB6-40B8-8771-E5AF41B8D698}"/>
                </a:ext>
              </a:extLst>
            </p:cNvPr>
            <p:cNvSpPr/>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75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91BD0EE8-AA47-4044-9251-9F5A4B820120}"/>
                </a:ext>
              </a:extLst>
            </p:cNvPr>
            <p:cNvSpPr/>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75000"/>
                </a:schemeClr>
              </a:solidFill>
              <a:prstDash val="lgDash"/>
              <a:round/>
            </a:ln>
          </p:spPr>
          <p:txBody>
            <a:bodyPr rtlCol="0" anchor="ctr"/>
            <a:lstStyle/>
            <a:p>
              <a:endParaRPr lang="en-US" dirty="0"/>
            </a:p>
          </p:txBody>
        </p:sp>
      </p:grpSp>
      <p:grpSp>
        <p:nvGrpSpPr>
          <p:cNvPr id="19" name="Graphic 157">
            <a:extLst>
              <a:ext uri="{FF2B5EF4-FFF2-40B4-BE49-F238E27FC236}">
                <a16:creationId xmlns:a16="http://schemas.microsoft.com/office/drawing/2014/main" id="{C3279E8D-2BAA-4CB1-834B-09FADD54DE56}"/>
              </a:ext>
            </a:extLst>
          </p:cNvPr>
          <p:cNvGrpSpPr/>
          <p:nvPr/>
        </p:nvGrpSpPr>
        <p:grpSpPr>
          <a:xfrm>
            <a:off x="8610600" y="3276600"/>
            <a:ext cx="3529260" cy="3581399"/>
            <a:chOff x="4114800" y="1423987"/>
            <a:chExt cx="3961542" cy="4007547"/>
          </a:xfrm>
          <a:noFill/>
        </p:grpSpPr>
        <p:sp>
          <p:nvSpPr>
            <p:cNvPr id="20" name="Freeform: Shape 19">
              <a:extLst>
                <a:ext uri="{FF2B5EF4-FFF2-40B4-BE49-F238E27FC236}">
                  <a16:creationId xmlns:a16="http://schemas.microsoft.com/office/drawing/2014/main" id="{3456F18E-4F61-486D-9CD6-65B30372C534}"/>
                </a:ext>
              </a:extLst>
            </p:cNvPr>
            <p:cNvSpPr/>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75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318DDF45-08F0-46B6-A0B7-133735C94F47}"/>
                </a:ext>
              </a:extLst>
            </p:cNvPr>
            <p:cNvSpPr/>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B9D0CC0F-710D-43F4-BC86-763767420133}"/>
                </a:ext>
              </a:extLst>
            </p:cNvPr>
            <p:cNvSpPr/>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75000"/>
                </a:schemeClr>
              </a:solidFill>
              <a:prstDash val="lgDash"/>
              <a:round/>
            </a:ln>
          </p:spPr>
          <p:txBody>
            <a:bodyPr rtlCol="0" anchor="ctr"/>
            <a:lstStyle/>
            <a:p>
              <a:endParaRPr lang="en-US"/>
            </a:p>
          </p:txBody>
        </p:sp>
        <p:sp>
          <p:nvSpPr>
            <p:cNvPr id="23" name="Freeform: Shape 22">
              <a:extLst>
                <a:ext uri="{FF2B5EF4-FFF2-40B4-BE49-F238E27FC236}">
                  <a16:creationId xmlns:a16="http://schemas.microsoft.com/office/drawing/2014/main" id="{6FB36AB6-CB81-495A-8A33-C0BCE67D6F23}"/>
                </a:ext>
              </a:extLst>
            </p:cNvPr>
            <p:cNvSpPr/>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75000"/>
                </a:schemeClr>
              </a:solidFill>
              <a:prstDash val="lgDash"/>
              <a:round/>
            </a:ln>
          </p:spPr>
          <p:txBody>
            <a:bodyPr rtlCol="0" anchor="ctr"/>
            <a:lstStyle/>
            <a:p>
              <a:endParaRPr lang="en-US"/>
            </a:p>
          </p:txBody>
        </p:sp>
        <p:sp>
          <p:nvSpPr>
            <p:cNvPr id="24" name="Freeform: Shape 23">
              <a:extLst>
                <a:ext uri="{FF2B5EF4-FFF2-40B4-BE49-F238E27FC236}">
                  <a16:creationId xmlns:a16="http://schemas.microsoft.com/office/drawing/2014/main" id="{1993F7E6-ABF6-482D-BEA5-B4E607DDB433}"/>
                </a:ext>
              </a:extLst>
            </p:cNvPr>
            <p:cNvSpPr/>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75000"/>
                </a:schemeClr>
              </a:solidFill>
              <a:prstDash val="lgDash"/>
              <a:round/>
            </a:ln>
          </p:spPr>
          <p:txBody>
            <a:bodyPr rtlCol="0" anchor="ctr"/>
            <a:lstStyle/>
            <a:p>
              <a:endParaRPr lang="en-US"/>
            </a:p>
          </p:txBody>
        </p:sp>
        <p:sp>
          <p:nvSpPr>
            <p:cNvPr id="25" name="Freeform: Shape 24">
              <a:extLst>
                <a:ext uri="{FF2B5EF4-FFF2-40B4-BE49-F238E27FC236}">
                  <a16:creationId xmlns:a16="http://schemas.microsoft.com/office/drawing/2014/main" id="{DCA0B097-C21A-40B4-95E4-2FFA9697F824}"/>
                </a:ext>
              </a:extLst>
            </p:cNvPr>
            <p:cNvSpPr/>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6" name="Freeform: Shape 25">
              <a:extLst>
                <a:ext uri="{FF2B5EF4-FFF2-40B4-BE49-F238E27FC236}">
                  <a16:creationId xmlns:a16="http://schemas.microsoft.com/office/drawing/2014/main" id="{AB2AF0F5-7EAA-4BAB-8DE2-D84E124170FA}"/>
                </a:ext>
              </a:extLst>
            </p:cNvPr>
            <p:cNvSpPr/>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75000"/>
                </a:schemeClr>
              </a:solidFill>
              <a:prstDash val="lgDash"/>
              <a:round/>
            </a:ln>
          </p:spPr>
          <p:txBody>
            <a:bodyPr rtlCol="0" anchor="ctr"/>
            <a:lstStyle/>
            <a:p>
              <a:endParaRPr lang="en-US"/>
            </a:p>
          </p:txBody>
        </p:sp>
      </p:grpSp>
      <p:sp>
        <p:nvSpPr>
          <p:cNvPr id="2" name="Title Placeholder 1">
            <a:extLst>
              <a:ext uri="{FF2B5EF4-FFF2-40B4-BE49-F238E27FC236}">
                <a16:creationId xmlns:a16="http://schemas.microsoft.com/office/drawing/2014/main" id="{B760C036-BBCE-4F9E-AD56-DD36D4407B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3A5D7EC-1E6A-473F-B5A4-18CDFB6CF9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F9981C7-34D5-49A4-949D-715FD4BD8FE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lang="en-US" sz="900" kern="1200" cap="all" spc="200" smtClean="0">
                <a:solidFill>
                  <a:schemeClr val="accent1"/>
                </a:solidFill>
                <a:latin typeface="+mn-lt"/>
                <a:ea typeface="+mn-ea"/>
                <a:cs typeface="Segoe UI Semilight" panose="020B0402040204020203" pitchFamily="34" charset="0"/>
              </a:defRPr>
            </a:lvl1pPr>
          </a:lstStyle>
          <a:p>
            <a:fld id="{0DAF61AA-5A98-4049-A93E-477E5505141A}" type="datetimeFigureOut">
              <a:rPr lang="en-US" smtClean="0"/>
              <a:pPr/>
              <a:t>8/31/2026</a:t>
            </a:fld>
            <a:endParaRPr lang="en-US" dirty="0"/>
          </a:p>
        </p:txBody>
      </p:sp>
      <p:sp>
        <p:nvSpPr>
          <p:cNvPr id="5" name="Footer Placeholder 4">
            <a:extLst>
              <a:ext uri="{FF2B5EF4-FFF2-40B4-BE49-F238E27FC236}">
                <a16:creationId xmlns:a16="http://schemas.microsoft.com/office/drawing/2014/main" id="{FA85CE6E-733D-4C60-B40B-C7C10CB5AF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en-US" sz="900" kern="1200" cap="all" spc="200" dirty="0">
                <a:solidFill>
                  <a:schemeClr val="accent1"/>
                </a:solidFill>
                <a:latin typeface="+mn-lt"/>
                <a:ea typeface="+mn-ea"/>
                <a:cs typeface="Segoe UI Semilight" panose="020B0402040204020203" pitchFamily="34" charset="0"/>
              </a:defRPr>
            </a:lvl1pPr>
          </a:lstStyle>
          <a:p>
            <a:endParaRPr lang="en-US"/>
          </a:p>
        </p:txBody>
      </p:sp>
      <p:sp>
        <p:nvSpPr>
          <p:cNvPr id="6" name="Slide Number Placeholder 5">
            <a:extLst>
              <a:ext uri="{FF2B5EF4-FFF2-40B4-BE49-F238E27FC236}">
                <a16:creationId xmlns:a16="http://schemas.microsoft.com/office/drawing/2014/main" id="{92D80D8B-7909-4114-8EBA-C3086DC62B08}"/>
              </a:ext>
            </a:extLst>
          </p:cNvPr>
          <p:cNvSpPr>
            <a:spLocks noGrp="1"/>
          </p:cNvSpPr>
          <p:nvPr>
            <p:ph type="sldNum" sz="quarter" idx="4"/>
          </p:nvPr>
        </p:nvSpPr>
        <p:spPr>
          <a:xfrm>
            <a:off x="9906000" y="6356350"/>
            <a:ext cx="1447800" cy="365125"/>
          </a:xfrm>
          <a:prstGeom prst="rect">
            <a:avLst/>
          </a:prstGeom>
        </p:spPr>
        <p:txBody>
          <a:bodyPr vert="horz" lIns="91440" tIns="45720" rIns="91440" bIns="45720" rtlCol="0" anchor="ctr"/>
          <a:lstStyle>
            <a:lvl1pPr algn="r">
              <a:defRPr lang="en-US" sz="900" kern="1200" cap="all" spc="200" smtClean="0">
                <a:solidFill>
                  <a:schemeClr val="accent1"/>
                </a:solidFill>
                <a:latin typeface="+mn-lt"/>
                <a:ea typeface="+mn-ea"/>
                <a:cs typeface="Segoe UI Semilight" panose="020B0402040204020203" pitchFamily="34" charset="0"/>
              </a:defRPr>
            </a:lvl1pPr>
          </a:lstStyle>
          <a:p>
            <a:fld id="{73B850FF-6169-4056-8077-06FFA93A5366}" type="slidenum">
              <a:rPr lang="en-US" smtClean="0"/>
              <a:pPr/>
              <a:t>‹#›</a:t>
            </a:fld>
            <a:endParaRPr lang="en-US"/>
          </a:p>
        </p:txBody>
      </p:sp>
    </p:spTree>
    <p:extLst>
      <p:ext uri="{BB962C8B-B14F-4D97-AF65-F5344CB8AC3E}">
        <p14:creationId xmlns:p14="http://schemas.microsoft.com/office/powerpoint/2010/main" val="101715207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5"/>
        </a:buClr>
        <a:buFont typeface="Avenir Next LT Pro" panose="020B05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B8610-A3E2-F86F-3FB4-A8D330F29F98}"/>
              </a:ext>
            </a:extLst>
          </p:cNvPr>
          <p:cNvSpPr>
            <a:spLocks noGrp="1"/>
          </p:cNvSpPr>
          <p:nvPr>
            <p:ph type="ctrTitle"/>
          </p:nvPr>
        </p:nvSpPr>
        <p:spPr/>
        <p:txBody>
          <a:bodyPr>
            <a:normAutofit/>
          </a:bodyPr>
          <a:lstStyle/>
          <a:p>
            <a:r>
              <a:rPr lang="en-US" sz="4400" dirty="0"/>
              <a:t>LOG ANALYSIS SYSTEM</a:t>
            </a:r>
            <a:endParaRPr lang="en-IN" sz="4400" dirty="0"/>
          </a:p>
        </p:txBody>
      </p:sp>
      <p:sp>
        <p:nvSpPr>
          <p:cNvPr id="3" name="Subtitle 2">
            <a:extLst>
              <a:ext uri="{FF2B5EF4-FFF2-40B4-BE49-F238E27FC236}">
                <a16:creationId xmlns:a16="http://schemas.microsoft.com/office/drawing/2014/main" id="{64AD4C9A-79D1-94C7-47DC-D7447DE87F33}"/>
              </a:ext>
            </a:extLst>
          </p:cNvPr>
          <p:cNvSpPr>
            <a:spLocks noGrp="1"/>
          </p:cNvSpPr>
          <p:nvPr>
            <p:ph type="subTitle" idx="1"/>
          </p:nvPr>
        </p:nvSpPr>
        <p:spPr>
          <a:xfrm>
            <a:off x="6096000" y="4180114"/>
            <a:ext cx="5203370" cy="1555523"/>
          </a:xfrm>
        </p:spPr>
        <p:txBody>
          <a:bodyPr>
            <a:normAutofit/>
          </a:bodyPr>
          <a:lstStyle/>
          <a:p>
            <a:r>
              <a:rPr lang="en-US" sz="1800" dirty="0"/>
              <a:t>2520030017 – G.VARSHINI</a:t>
            </a:r>
          </a:p>
          <a:p>
            <a:r>
              <a:rPr lang="en-US" sz="1800" dirty="0"/>
              <a:t>2520030430 – K.PRAGNYA</a:t>
            </a:r>
          </a:p>
          <a:p>
            <a:r>
              <a:rPr lang="en-US" sz="1800" dirty="0"/>
              <a:t>2520030482 – M.AVISHYA</a:t>
            </a:r>
            <a:endParaRPr lang="en-IN" sz="1800" dirty="0"/>
          </a:p>
        </p:txBody>
      </p:sp>
      <p:pic>
        <p:nvPicPr>
          <p:cNvPr id="4" name="Picture 3" descr="MAPS &amp; DIRECTIONS - Best Private University in Telangana &amp; Andhra Pradesh |  KLH Hyderabad">
            <a:extLst>
              <a:ext uri="{FF2B5EF4-FFF2-40B4-BE49-F238E27FC236}">
                <a16:creationId xmlns:a16="http://schemas.microsoft.com/office/drawing/2014/main" id="{6F97F66F-137D-2BCB-A9FF-EC30FF5B041D}"/>
              </a:ext>
            </a:extLst>
          </p:cNvPr>
          <p:cNvPicPr>
            <a:picLocks noChangeAspect="1"/>
          </p:cNvPicPr>
          <p:nvPr/>
        </p:nvPicPr>
        <p:blipFill>
          <a:blip r:embed="rId2"/>
          <a:stretch>
            <a:fillRect/>
          </a:stretch>
        </p:blipFill>
        <p:spPr>
          <a:xfrm>
            <a:off x="8598388" y="-549528"/>
            <a:ext cx="3192165" cy="2372684"/>
          </a:xfrm>
          <a:prstGeom prst="rect">
            <a:avLst/>
          </a:prstGeom>
        </p:spPr>
      </p:pic>
    </p:spTree>
    <p:extLst>
      <p:ext uri="{BB962C8B-B14F-4D97-AF65-F5344CB8AC3E}">
        <p14:creationId xmlns:p14="http://schemas.microsoft.com/office/powerpoint/2010/main" val="25342757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6C4A1-B6E3-4C72-7EF0-7E96E3E87278}"/>
              </a:ext>
            </a:extLst>
          </p:cNvPr>
          <p:cNvSpPr>
            <a:spLocks noGrp="1"/>
          </p:cNvSpPr>
          <p:nvPr>
            <p:ph type="title"/>
          </p:nvPr>
        </p:nvSpPr>
        <p:spPr/>
        <p:txBody>
          <a:bodyPr/>
          <a:lstStyle/>
          <a:p>
            <a:r>
              <a:rPr lang="en-US" dirty="0"/>
              <a:t>ABSTRACT</a:t>
            </a:r>
            <a:endParaRPr lang="en-IN" dirty="0"/>
          </a:p>
        </p:txBody>
      </p:sp>
      <p:sp>
        <p:nvSpPr>
          <p:cNvPr id="3" name="Content Placeholder 2">
            <a:extLst>
              <a:ext uri="{FF2B5EF4-FFF2-40B4-BE49-F238E27FC236}">
                <a16:creationId xmlns:a16="http://schemas.microsoft.com/office/drawing/2014/main" id="{AF4521E5-0A28-3BE4-8C31-0138293F809B}"/>
              </a:ext>
            </a:extLst>
          </p:cNvPr>
          <p:cNvSpPr>
            <a:spLocks noGrp="1"/>
          </p:cNvSpPr>
          <p:nvPr>
            <p:ph idx="1"/>
          </p:nvPr>
        </p:nvSpPr>
        <p:spPr>
          <a:xfrm>
            <a:off x="838200" y="1825625"/>
            <a:ext cx="10515600" cy="5554889"/>
          </a:xfrm>
        </p:spPr>
        <p:txBody>
          <a:bodyPr>
            <a:normAutofit fontScale="40000" lnSpcReduction="20000"/>
          </a:bodyPr>
          <a:lstStyle/>
          <a:p>
            <a:pPr>
              <a:buFont typeface="Arial" panose="020B0604020202020204" pitchFamily="34" charset="0"/>
              <a:buChar char="•"/>
            </a:pPr>
            <a:r>
              <a:rPr lang="en-US" sz="5000" dirty="0"/>
              <a:t>The Log Analysis System is designed to identify recurring error patterns from massive server log files efficiently. The system analyzes continuous streams of log data and searches for predefined error signatures using efficient string-matching algorithms. It detects repeated errors and categorizes them based on their frequency and severity level. The system can handle large datasets without requiring administrators to manually inspect every log entry. It continuously monitors log files to identify new errors as they occur. The detected errors are organized into meaningful categories such as low, medium, and high severity. </a:t>
            </a:r>
          </a:p>
          <a:p>
            <a:pPr>
              <a:buFont typeface="Arial" panose="020B0604020202020204" pitchFamily="34" charset="0"/>
              <a:buChar char="•"/>
            </a:pPr>
            <a:r>
              <a:rPr lang="en-US" sz="5000" dirty="0"/>
              <a:t>Summary reports are generated to provide information about frequently occurring errors and their impact on the server. The system helps administrators identify recurring faults and understand their possible causes. Efficient searching techniques improve the speed of error detection and reduce processing time. The solution is designed to support large-scale log analysis and continuous monitoring. By automating the fault-detection process, the system reduces manual effort and improves troubleshooting efficiency. Overall, the proposed system assists system administrators in quick fault diagnosis, server monitoring, and maintaining system reliability.</a:t>
            </a:r>
            <a:endParaRPr lang="en-IN" sz="5000" dirty="0"/>
          </a:p>
          <a:p>
            <a:pPr marL="0" indent="0">
              <a:buNone/>
            </a:pPr>
            <a:r>
              <a:rPr lang="en-US" sz="4200" dirty="0"/>
              <a:t> </a:t>
            </a:r>
            <a:endParaRPr lang="en-IN" sz="4200" dirty="0"/>
          </a:p>
          <a:p>
            <a:endParaRPr lang="en-IN" dirty="0"/>
          </a:p>
        </p:txBody>
      </p:sp>
    </p:spTree>
    <p:extLst>
      <p:ext uri="{BB962C8B-B14F-4D97-AF65-F5344CB8AC3E}">
        <p14:creationId xmlns:p14="http://schemas.microsoft.com/office/powerpoint/2010/main" val="40193754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D5FC4-7A88-5B62-B0FC-293813FC2592}"/>
              </a:ext>
            </a:extLst>
          </p:cNvPr>
          <p:cNvSpPr>
            <a:spLocks noGrp="1"/>
          </p:cNvSpPr>
          <p:nvPr>
            <p:ph type="title"/>
          </p:nvPr>
        </p:nvSpPr>
        <p:spPr/>
        <p:txBody>
          <a:bodyPr/>
          <a:lstStyle/>
          <a:p>
            <a:r>
              <a:rPr lang="en-US" dirty="0"/>
              <a:t>INTRODUCTION</a:t>
            </a:r>
            <a:endParaRPr lang="en-IN" dirty="0"/>
          </a:p>
        </p:txBody>
      </p:sp>
      <p:sp>
        <p:nvSpPr>
          <p:cNvPr id="3" name="Content Placeholder 2">
            <a:extLst>
              <a:ext uri="{FF2B5EF4-FFF2-40B4-BE49-F238E27FC236}">
                <a16:creationId xmlns:a16="http://schemas.microsoft.com/office/drawing/2014/main" id="{E1657DE5-CB8F-AEA9-4174-2A8BBB2CAFC2}"/>
              </a:ext>
            </a:extLst>
          </p:cNvPr>
          <p:cNvSpPr>
            <a:spLocks noGrp="1"/>
          </p:cNvSpPr>
          <p:nvPr>
            <p:ph idx="1"/>
          </p:nvPr>
        </p:nvSpPr>
        <p:spPr/>
        <p:txBody>
          <a:bodyPr>
            <a:normAutofit lnSpcReduction="10000"/>
          </a:bodyPr>
          <a:lstStyle/>
          <a:p>
            <a:pPr>
              <a:buFont typeface="Arial" panose="020B0604020202020204" pitchFamily="34" charset="0"/>
              <a:buChar char="•"/>
            </a:pPr>
            <a:r>
              <a:rPr lang="en-IN" dirty="0"/>
              <a:t>In modern computing environments, servers generate millions of log entries every day to record system activities, user requests, errors, and security events. </a:t>
            </a:r>
            <a:r>
              <a:rPr lang="en-IN" dirty="0" err="1"/>
              <a:t>Analyzing</a:t>
            </a:r>
            <a:r>
              <a:rPr lang="en-IN" dirty="0"/>
              <a:t> these large log files manually is time-consuming and may cause important errors to be missed.</a:t>
            </a:r>
          </a:p>
          <a:p>
            <a:pPr>
              <a:buFont typeface="Arial" panose="020B0604020202020204" pitchFamily="34" charset="0"/>
              <a:buChar char="•"/>
            </a:pPr>
            <a:r>
              <a:rPr lang="en-IN" dirty="0"/>
              <a:t>A Log Analysis System provides an automated solution for processing and </a:t>
            </a:r>
            <a:r>
              <a:rPr lang="en-IN" dirty="0" err="1"/>
              <a:t>analyzing</a:t>
            </a:r>
            <a:r>
              <a:rPr lang="en-IN" dirty="0"/>
              <a:t> server logs. It searches the logs for predefined error patterns or signatures and identifies matching entries using efficient string-matching algorithms.</a:t>
            </a:r>
          </a:p>
          <a:p>
            <a:endParaRPr lang="en-IN" dirty="0"/>
          </a:p>
        </p:txBody>
      </p:sp>
    </p:spTree>
    <p:extLst>
      <p:ext uri="{BB962C8B-B14F-4D97-AF65-F5344CB8AC3E}">
        <p14:creationId xmlns:p14="http://schemas.microsoft.com/office/powerpoint/2010/main" val="241061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AA6AE-3B13-A3B5-47F9-3B25B6A110A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64EA2C5-9B01-C586-C2D3-988FCCD721C0}"/>
              </a:ext>
            </a:extLst>
          </p:cNvPr>
          <p:cNvSpPr>
            <a:spLocks noGrp="1"/>
          </p:cNvSpPr>
          <p:nvPr>
            <p:ph idx="1"/>
          </p:nvPr>
        </p:nvSpPr>
        <p:spPr/>
        <p:txBody>
          <a:bodyPr>
            <a:normAutofit fontScale="92500"/>
          </a:bodyPr>
          <a:lstStyle/>
          <a:p>
            <a:pPr>
              <a:buFont typeface="Arial" panose="020B0604020202020204" pitchFamily="34" charset="0"/>
              <a:buChar char="•"/>
            </a:pPr>
            <a:r>
              <a:rPr lang="en-IN" dirty="0"/>
              <a:t>The system categorizes detected errors according to their frequency and severity, making it easier to identify the most critical and recurring problems. It also supports continuous log monitoring, allowing newly generated errors to be detected quickly.</a:t>
            </a:r>
          </a:p>
          <a:p>
            <a:pPr>
              <a:buFont typeface="Arial" panose="020B0604020202020204" pitchFamily="34" charset="0"/>
              <a:buChar char="•"/>
            </a:pPr>
            <a:r>
              <a:rPr lang="en-IN" dirty="0"/>
              <a:t>The </a:t>
            </a:r>
            <a:r>
              <a:rPr lang="en-IN" dirty="0" err="1"/>
              <a:t>analyzed</a:t>
            </a:r>
            <a:r>
              <a:rPr lang="en-IN" dirty="0"/>
              <a:t> results are presented as matched logs and summary reports, helping system administrators understand server problems more effectively. By reducing manual effort and improving the speed of error detection, the system supports quick fault diagnosis, better server monitoring, and improved system reliability.</a:t>
            </a:r>
          </a:p>
          <a:p>
            <a:endParaRPr lang="en-IN" dirty="0"/>
          </a:p>
        </p:txBody>
      </p:sp>
    </p:spTree>
    <p:extLst>
      <p:ext uri="{BB962C8B-B14F-4D97-AF65-F5344CB8AC3E}">
        <p14:creationId xmlns:p14="http://schemas.microsoft.com/office/powerpoint/2010/main" val="15285150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3CA13-C4E7-3463-0F15-C186988BB0E3}"/>
              </a:ext>
            </a:extLst>
          </p:cNvPr>
          <p:cNvSpPr>
            <a:spLocks noGrp="1"/>
          </p:cNvSpPr>
          <p:nvPr>
            <p:ph type="title"/>
          </p:nvPr>
        </p:nvSpPr>
        <p:spPr>
          <a:xfrm>
            <a:off x="838200" y="355293"/>
            <a:ext cx="10515600" cy="788761"/>
          </a:xfrm>
        </p:spPr>
        <p:txBody>
          <a:bodyPr/>
          <a:lstStyle/>
          <a:p>
            <a:r>
              <a:rPr lang="en-US" dirty="0"/>
              <a:t>LITERATURE AND GROUNDING</a:t>
            </a:r>
            <a:endParaRPr lang="en-IN" dirty="0"/>
          </a:p>
        </p:txBody>
      </p:sp>
      <p:sp>
        <p:nvSpPr>
          <p:cNvPr id="3" name="Content Placeholder 2">
            <a:extLst>
              <a:ext uri="{FF2B5EF4-FFF2-40B4-BE49-F238E27FC236}">
                <a16:creationId xmlns:a16="http://schemas.microsoft.com/office/drawing/2014/main" id="{71D99152-E4D7-AE0A-7C82-2B5C83FC4345}"/>
              </a:ext>
            </a:extLst>
          </p:cNvPr>
          <p:cNvSpPr>
            <a:spLocks noGrp="1"/>
          </p:cNvSpPr>
          <p:nvPr>
            <p:ph idx="1"/>
          </p:nvPr>
        </p:nvSpPr>
        <p:spPr>
          <a:xfrm>
            <a:off x="119743" y="1153886"/>
            <a:ext cx="11234057" cy="5431971"/>
          </a:xfrm>
        </p:spPr>
        <p:txBody>
          <a:bodyPr>
            <a:normAutofit fontScale="62500" lnSpcReduction="20000"/>
          </a:bodyPr>
          <a:lstStyle/>
          <a:p>
            <a:pPr>
              <a:buFont typeface="Arial" panose="020B0604020202020204" pitchFamily="34" charset="0"/>
              <a:buChar char="•"/>
            </a:pPr>
            <a:r>
              <a:rPr lang="en-US" b="1" dirty="0"/>
              <a:t>Log Files</a:t>
            </a:r>
          </a:p>
          <a:p>
            <a:pPr>
              <a:buFont typeface="Arial" panose="020B0604020202020204" pitchFamily="34" charset="0"/>
              <a:buChar char="•"/>
            </a:pPr>
            <a:r>
              <a:rPr lang="en-US" dirty="0"/>
              <a:t>Large server log files containing system activities and events.</a:t>
            </a:r>
          </a:p>
          <a:p>
            <a:pPr>
              <a:buFont typeface="Arial" panose="020B0604020202020204" pitchFamily="34" charset="0"/>
              <a:buChar char="•"/>
            </a:pPr>
            <a:r>
              <a:rPr lang="en-US" dirty="0"/>
              <a:t>May include timestamps, IP addresses, user activities, warnings, and error messages.</a:t>
            </a:r>
          </a:p>
          <a:p>
            <a:pPr>
              <a:buFont typeface="Arial" panose="020B0604020202020204" pitchFamily="34" charset="0"/>
              <a:buChar char="•"/>
            </a:pPr>
            <a:r>
              <a:rPr lang="en-US" dirty="0"/>
              <a:t>Logs can be in formats such as .log, .txt, or other structured formats.</a:t>
            </a:r>
          </a:p>
          <a:p>
            <a:pPr>
              <a:buFont typeface="Arial" panose="020B0604020202020204" pitchFamily="34" charset="0"/>
              <a:buChar char="•"/>
            </a:pPr>
            <a:r>
              <a:rPr lang="en-US" b="1" dirty="0"/>
              <a:t>Predefined Error Patterns</a:t>
            </a:r>
          </a:p>
          <a:p>
            <a:pPr>
              <a:buFont typeface="Arial" panose="020B0604020202020204" pitchFamily="34" charset="0"/>
              <a:buChar char="•"/>
            </a:pPr>
            <a:r>
              <a:rPr lang="en-US" dirty="0"/>
              <a:t>A collection of known error messages or signatures that the system needs to search for.</a:t>
            </a:r>
          </a:p>
          <a:p>
            <a:pPr>
              <a:buFont typeface="Arial" panose="020B0604020202020204" pitchFamily="34" charset="0"/>
              <a:buChar char="•"/>
            </a:pPr>
            <a:r>
              <a:rPr lang="en-US" dirty="0"/>
              <a:t>Examples: Connection refused, File not found, Database error, Authentication failed.</a:t>
            </a:r>
          </a:p>
          <a:p>
            <a:pPr>
              <a:buFont typeface="Arial" panose="020B0604020202020204" pitchFamily="34" charset="0"/>
              <a:buChar char="•"/>
            </a:pPr>
            <a:r>
              <a:rPr lang="en-US" dirty="0"/>
              <a:t>These patterns help the system quickly identify known problems.</a:t>
            </a:r>
          </a:p>
          <a:p>
            <a:pPr>
              <a:buFont typeface="Arial" panose="020B0604020202020204" pitchFamily="34" charset="0"/>
              <a:buChar char="•"/>
            </a:pPr>
            <a:r>
              <a:rPr lang="en-US" b="1" dirty="0"/>
              <a:t>Severity Information</a:t>
            </a:r>
          </a:p>
          <a:p>
            <a:pPr>
              <a:buFont typeface="Arial" panose="020B0604020202020204" pitchFamily="34" charset="0"/>
              <a:buChar char="•"/>
            </a:pPr>
            <a:r>
              <a:rPr lang="en-US" dirty="0"/>
              <a:t>Error patterns can be associated with severity levels such as Low, Medium, High, and Critical.</a:t>
            </a:r>
          </a:p>
          <a:p>
            <a:pPr>
              <a:buFont typeface="Arial" panose="020B0604020202020204" pitchFamily="34" charset="0"/>
              <a:buChar char="•"/>
            </a:pPr>
            <a:r>
              <a:rPr lang="en-US" dirty="0"/>
              <a:t>This helps administrators prioritize important errors.</a:t>
            </a:r>
          </a:p>
          <a:p>
            <a:pPr>
              <a:buFont typeface="Arial" panose="020B0604020202020204" pitchFamily="34" charset="0"/>
              <a:buChar char="•"/>
            </a:pPr>
            <a:r>
              <a:rPr lang="en-US" b="1" dirty="0"/>
              <a:t>Monitoring Input</a:t>
            </a:r>
          </a:p>
          <a:p>
            <a:pPr>
              <a:buFont typeface="Arial" panose="020B0604020202020204" pitchFamily="34" charset="0"/>
              <a:buChar char="•"/>
            </a:pPr>
            <a:r>
              <a:rPr lang="en-US" dirty="0"/>
              <a:t>For continuous monitoring, newly generated log entries are continuously provided to the system.</a:t>
            </a:r>
          </a:p>
          <a:p>
            <a:pPr>
              <a:buFont typeface="Arial" panose="020B0604020202020204" pitchFamily="34" charset="0"/>
              <a:buChar char="•"/>
            </a:pPr>
            <a:r>
              <a:rPr lang="en-US" dirty="0"/>
              <a:t>The system analyzes new entries as they appear and detects matching error patterns.</a:t>
            </a:r>
            <a:endParaRPr lang="en-IN" dirty="0"/>
          </a:p>
          <a:p>
            <a:endParaRPr lang="en-IN" dirty="0"/>
          </a:p>
        </p:txBody>
      </p:sp>
    </p:spTree>
    <p:extLst>
      <p:ext uri="{BB962C8B-B14F-4D97-AF65-F5344CB8AC3E}">
        <p14:creationId xmlns:p14="http://schemas.microsoft.com/office/powerpoint/2010/main" val="19195362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C1D854-CBFD-BD5D-3116-CD95E0E9D223}"/>
              </a:ext>
            </a:extLst>
          </p:cNvPr>
          <p:cNvSpPr>
            <a:spLocks noGrp="1"/>
          </p:cNvSpPr>
          <p:nvPr>
            <p:ph idx="1"/>
          </p:nvPr>
        </p:nvSpPr>
        <p:spPr>
          <a:xfrm>
            <a:off x="119743" y="293914"/>
            <a:ext cx="11234057" cy="6564086"/>
          </a:xfrm>
        </p:spPr>
        <p:txBody>
          <a:bodyPr>
            <a:noAutofit/>
          </a:bodyPr>
          <a:lstStyle/>
          <a:p>
            <a:pPr>
              <a:buFont typeface="Arial" panose="020B0604020202020204" pitchFamily="34" charset="0"/>
              <a:buChar char="•"/>
            </a:pPr>
            <a:r>
              <a:rPr lang="en-US" sz="2000" dirty="0"/>
              <a:t>Matched Logs are the log entries that contain one or more of the predefined error patterns or signatures.</a:t>
            </a:r>
          </a:p>
          <a:p>
            <a:pPr>
              <a:buFont typeface="Arial" panose="020B0604020202020204" pitchFamily="34" charset="0"/>
              <a:buChar char="•"/>
            </a:pPr>
            <a:r>
              <a:rPr lang="en-US" sz="2000" dirty="0"/>
              <a:t>The system provides:</a:t>
            </a:r>
          </a:p>
          <a:p>
            <a:pPr>
              <a:buFont typeface="Arial" panose="020B0604020202020204" pitchFamily="34" charset="0"/>
              <a:buChar char="•"/>
            </a:pPr>
            <a:r>
              <a:rPr lang="en-US" sz="2000" dirty="0"/>
              <a:t>Matched error message – the detected error from the log.</a:t>
            </a:r>
          </a:p>
          <a:p>
            <a:pPr>
              <a:buFont typeface="Arial" panose="020B0604020202020204" pitchFamily="34" charset="0"/>
              <a:buChar char="•"/>
            </a:pPr>
            <a:r>
              <a:rPr lang="en-US" sz="2000" dirty="0"/>
              <a:t>Timestamp – when the error occurred.</a:t>
            </a:r>
          </a:p>
          <a:p>
            <a:pPr>
              <a:buFont typeface="Arial" panose="020B0604020202020204" pitchFamily="34" charset="0"/>
              <a:buChar char="•"/>
            </a:pPr>
            <a:r>
              <a:rPr lang="en-US" sz="2000" dirty="0"/>
              <a:t>Error pattern/signature – the predefined pattern that matched.</a:t>
            </a:r>
          </a:p>
          <a:p>
            <a:pPr>
              <a:buFont typeface="Arial" panose="020B0604020202020204" pitchFamily="34" charset="0"/>
              <a:buChar char="•"/>
            </a:pPr>
            <a:r>
              <a:rPr lang="en-US" sz="2000" dirty="0"/>
              <a:t>Frequency – number of times the same error occurred.</a:t>
            </a:r>
          </a:p>
          <a:p>
            <a:pPr>
              <a:buFont typeface="Arial" panose="020B0604020202020204" pitchFamily="34" charset="0"/>
              <a:buChar char="•"/>
            </a:pPr>
            <a:r>
              <a:rPr lang="en-US" sz="2000" dirty="0"/>
              <a:t>Severity – Low, Medium, High, or Critical.</a:t>
            </a:r>
          </a:p>
          <a:p>
            <a:pPr>
              <a:buFont typeface="Arial" panose="020B0604020202020204" pitchFamily="34" charset="0"/>
              <a:buChar char="•"/>
            </a:pPr>
            <a:r>
              <a:rPr lang="en-US" sz="2000" dirty="0"/>
              <a:t>Source information – server, application, or service where the error occurred.</a:t>
            </a:r>
          </a:p>
          <a:p>
            <a:pPr>
              <a:buFont typeface="Arial" panose="020B0604020202020204" pitchFamily="34" charset="0"/>
              <a:buChar char="•"/>
            </a:pPr>
            <a:r>
              <a:rPr lang="en-US" sz="2000" dirty="0"/>
              <a:t>Summary report – a consolidated list of recurring errors and their frequencies.</a:t>
            </a:r>
          </a:p>
          <a:p>
            <a:pPr>
              <a:buFont typeface="Arial" panose="020B0604020202020204" pitchFamily="34" charset="0"/>
              <a:buChar char="•"/>
            </a:pPr>
            <a:r>
              <a:rPr lang="en-US" sz="2000" dirty="0"/>
              <a:t>Example:</a:t>
            </a:r>
          </a:p>
          <a:p>
            <a:pPr>
              <a:buFont typeface="Arial" panose="020B0604020202020204" pitchFamily="34" charset="0"/>
              <a:buChar char="•"/>
            </a:pPr>
            <a:r>
              <a:rPr lang="en-US" sz="2000" dirty="0"/>
              <a:t>2026-08-24 10:30:15 | Database Connection Failed | Frequency: 25 | Severity: High</a:t>
            </a:r>
          </a:p>
          <a:p>
            <a:pPr>
              <a:buFont typeface="Arial" panose="020B0604020202020204" pitchFamily="34" charset="0"/>
              <a:buChar char="•"/>
            </a:pPr>
            <a:r>
              <a:rPr lang="en-US" sz="2000" dirty="0"/>
              <a:t>This output helps system administrators quickly identify recurring and critical faults in the server.</a:t>
            </a:r>
            <a:endParaRPr lang="en-IN" sz="2000" dirty="0"/>
          </a:p>
        </p:txBody>
      </p:sp>
    </p:spTree>
    <p:extLst>
      <p:ext uri="{BB962C8B-B14F-4D97-AF65-F5344CB8AC3E}">
        <p14:creationId xmlns:p14="http://schemas.microsoft.com/office/powerpoint/2010/main" val="37918343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F36E28-8735-E880-D5B4-CBD3583E9025}"/>
              </a:ext>
            </a:extLst>
          </p:cNvPr>
          <p:cNvSpPr>
            <a:spLocks noGrp="1"/>
          </p:cNvSpPr>
          <p:nvPr>
            <p:ph idx="1"/>
          </p:nvPr>
        </p:nvSpPr>
        <p:spPr>
          <a:xfrm>
            <a:off x="228600" y="446314"/>
            <a:ext cx="11125199" cy="6411686"/>
          </a:xfrm>
        </p:spPr>
        <p:txBody>
          <a:bodyPr>
            <a:normAutofit fontScale="70000" lnSpcReduction="20000"/>
          </a:bodyPr>
          <a:lstStyle/>
          <a:p>
            <a:pPr>
              <a:buFont typeface="Arial" panose="020B0604020202020204" pitchFamily="34" charset="0"/>
              <a:buChar char="•"/>
            </a:pPr>
            <a:r>
              <a:rPr lang="en-US" dirty="0"/>
              <a:t>Constraints: Millions of Log Entries</a:t>
            </a:r>
          </a:p>
          <a:p>
            <a:pPr>
              <a:buFont typeface="Arial" panose="020B0604020202020204" pitchFamily="34" charset="0"/>
              <a:buChar char="•"/>
            </a:pPr>
            <a:endParaRPr lang="en-US" dirty="0"/>
          </a:p>
          <a:p>
            <a:pPr>
              <a:buFont typeface="Arial" panose="020B0604020202020204" pitchFamily="34" charset="0"/>
              <a:buChar char="•"/>
            </a:pPr>
            <a:r>
              <a:rPr lang="en-US" dirty="0"/>
              <a:t>The system must be capable of processing **millions of log entries** efficiently without significant performance degradation.</a:t>
            </a:r>
          </a:p>
          <a:p>
            <a:pPr>
              <a:buFont typeface="Arial" panose="020B0604020202020204" pitchFamily="34" charset="0"/>
              <a:buChar char="•"/>
            </a:pPr>
            <a:endParaRPr lang="en-US" dirty="0"/>
          </a:p>
          <a:p>
            <a:pPr>
              <a:buFont typeface="Arial" panose="020B0604020202020204" pitchFamily="34" charset="0"/>
              <a:buChar char="•"/>
            </a:pPr>
            <a:r>
              <a:rPr lang="en-US" dirty="0"/>
              <a:t>Key constraints include:</a:t>
            </a:r>
          </a:p>
          <a:p>
            <a:pPr>
              <a:buFont typeface="Arial" panose="020B0604020202020204" pitchFamily="34" charset="0"/>
              <a:buChar char="•"/>
            </a:pPr>
            <a:endParaRPr lang="en-US" dirty="0"/>
          </a:p>
          <a:p>
            <a:pPr>
              <a:buFont typeface="Arial" panose="020B0604020202020204" pitchFamily="34" charset="0"/>
              <a:buChar char="•"/>
            </a:pPr>
            <a:r>
              <a:rPr lang="en-US" dirty="0"/>
              <a:t>Large data volume: Logs may contain millions of records and require efficient processing.</a:t>
            </a:r>
          </a:p>
          <a:p>
            <a:pPr>
              <a:buFont typeface="Arial" panose="020B0604020202020204" pitchFamily="34" charset="0"/>
              <a:buChar char="•"/>
            </a:pPr>
            <a:r>
              <a:rPr lang="en-US" dirty="0"/>
              <a:t>Fast searching: String-matching algorithms should quickly identify predefined error patterns.</a:t>
            </a:r>
          </a:p>
          <a:p>
            <a:pPr>
              <a:buFont typeface="Arial" panose="020B0604020202020204" pitchFamily="34" charset="0"/>
              <a:buChar char="•"/>
            </a:pPr>
            <a:r>
              <a:rPr lang="en-US" dirty="0"/>
              <a:t>Memory efficiency: The system should avoid loading the entire log file into memory at once.</a:t>
            </a:r>
          </a:p>
          <a:p>
            <a:pPr>
              <a:buFont typeface="Arial" panose="020B0604020202020204" pitchFamily="34" charset="0"/>
              <a:buChar char="•"/>
            </a:pPr>
            <a:r>
              <a:rPr lang="en-US" dirty="0"/>
              <a:t>Scalability: It should handle increasing log sizes without major performance issues.</a:t>
            </a:r>
          </a:p>
          <a:p>
            <a:pPr>
              <a:buFont typeface="Arial" panose="020B0604020202020204" pitchFamily="34" charset="0"/>
              <a:buChar char="•"/>
            </a:pPr>
            <a:r>
              <a:rPr lang="en-US" dirty="0"/>
              <a:t>Continuous monitoring: New log entries should be processed continuously as they are generated.</a:t>
            </a:r>
          </a:p>
          <a:p>
            <a:pPr>
              <a:buFont typeface="Arial" panose="020B0604020202020204" pitchFamily="34" charset="0"/>
              <a:buChar char="•"/>
            </a:pPr>
            <a:r>
              <a:rPr lang="en-US" dirty="0"/>
              <a:t>Accurate detection: Matching should identify relevant errors while minimizing false matches.</a:t>
            </a:r>
          </a:p>
          <a:p>
            <a:pPr>
              <a:buFont typeface="Arial" panose="020B0604020202020204" pitchFamily="34" charset="0"/>
              <a:buChar char="•"/>
            </a:pPr>
            <a:r>
              <a:rPr lang="en-US" dirty="0"/>
              <a:t>Efficient reporting: Summary reports should be generated without repeatedly scanning the entire dataset.</a:t>
            </a:r>
            <a:endParaRPr lang="en-IN" dirty="0"/>
          </a:p>
        </p:txBody>
      </p:sp>
    </p:spTree>
    <p:extLst>
      <p:ext uri="{BB962C8B-B14F-4D97-AF65-F5344CB8AC3E}">
        <p14:creationId xmlns:p14="http://schemas.microsoft.com/office/powerpoint/2010/main" val="3845349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D0035-7A6F-056F-8C5D-003880E9AC77}"/>
              </a:ext>
            </a:extLst>
          </p:cNvPr>
          <p:cNvSpPr>
            <a:spLocks noGrp="1"/>
          </p:cNvSpPr>
          <p:nvPr>
            <p:ph type="title"/>
          </p:nvPr>
        </p:nvSpPr>
        <p:spPr/>
        <p:txBody>
          <a:bodyPr/>
          <a:lstStyle/>
          <a:p>
            <a:r>
              <a:rPr lang="en-US" dirty="0"/>
              <a:t>PROBLEM DEFINITION</a:t>
            </a:r>
            <a:endParaRPr lang="en-IN" dirty="0"/>
          </a:p>
        </p:txBody>
      </p:sp>
      <p:sp>
        <p:nvSpPr>
          <p:cNvPr id="3" name="Content Placeholder 2">
            <a:extLst>
              <a:ext uri="{FF2B5EF4-FFF2-40B4-BE49-F238E27FC236}">
                <a16:creationId xmlns:a16="http://schemas.microsoft.com/office/drawing/2014/main" id="{01D1A475-6911-A24A-DEBF-813E5345C61C}"/>
              </a:ext>
            </a:extLst>
          </p:cNvPr>
          <p:cNvSpPr>
            <a:spLocks noGrp="1"/>
          </p:cNvSpPr>
          <p:nvPr>
            <p:ph idx="1"/>
          </p:nvPr>
        </p:nvSpPr>
        <p:spPr/>
        <p:txBody>
          <a:bodyPr>
            <a:normAutofit fontScale="92500" lnSpcReduction="10000"/>
          </a:bodyPr>
          <a:lstStyle/>
          <a:p>
            <a:pPr>
              <a:buFont typeface="Arial" panose="020B0604020202020204" pitchFamily="34" charset="0"/>
              <a:buChar char="•"/>
            </a:pPr>
            <a:r>
              <a:rPr lang="en-IN" dirty="0"/>
              <a:t>Modern servers generate millions of log entries, making manual analysis slow, difficult, and error-prone. System administrators need an efficient way to identify recurring errors and important fault patterns from large log files.</a:t>
            </a:r>
          </a:p>
          <a:p>
            <a:pPr>
              <a:buFont typeface="Arial" panose="020B0604020202020204" pitchFamily="34" charset="0"/>
              <a:buChar char="•"/>
            </a:pPr>
            <a:r>
              <a:rPr lang="en-IN" dirty="0"/>
              <a:t>The proposed Log Analysis System </a:t>
            </a:r>
            <a:r>
              <a:rPr lang="en-IN" dirty="0" err="1"/>
              <a:t>analyzes</a:t>
            </a:r>
            <a:r>
              <a:rPr lang="en-IN" dirty="0"/>
              <a:t> server log files by searching for predefined error patterns or signatures using efficient string-matching algorithms. The system identifies matching log entries and categorizes detected errors based on their frequency and severity. It also supports continuous log monitoring so that newly generated errors can be detected quickly.</a:t>
            </a:r>
          </a:p>
          <a:p>
            <a:endParaRPr lang="en-IN" dirty="0"/>
          </a:p>
        </p:txBody>
      </p:sp>
    </p:spTree>
    <p:extLst>
      <p:ext uri="{BB962C8B-B14F-4D97-AF65-F5344CB8AC3E}">
        <p14:creationId xmlns:p14="http://schemas.microsoft.com/office/powerpoint/2010/main" val="30163858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014B8-0354-269B-9AB8-DFC8452AB82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092BCC3-AB14-36AC-8885-133B3A6A12AE}"/>
              </a:ext>
            </a:extLst>
          </p:cNvPr>
          <p:cNvSpPr>
            <a:spLocks noGrp="1"/>
          </p:cNvSpPr>
          <p:nvPr>
            <p:ph idx="1"/>
          </p:nvPr>
        </p:nvSpPr>
        <p:spPr/>
        <p:txBody>
          <a:bodyPr>
            <a:normAutofit/>
          </a:bodyPr>
          <a:lstStyle/>
          <a:p>
            <a:pPr>
              <a:buFont typeface="Arial" panose="020B0604020202020204" pitchFamily="34" charset="0"/>
              <a:buChar char="•"/>
            </a:pPr>
            <a:r>
              <a:rPr lang="en-IN" dirty="0"/>
              <a:t>The system takes log files and predefined error patterns as input and produces matched logs, recurring error patterns, frequency/severity information, and summary reports as output. The main challenge is to process millions of log entries efficiently while minimizing processing time and memory usage.</a:t>
            </a:r>
          </a:p>
          <a:p>
            <a:pPr>
              <a:buFont typeface="Arial" panose="020B0604020202020204" pitchFamily="34" charset="0"/>
              <a:buChar char="•"/>
            </a:pPr>
            <a:r>
              <a:rPr lang="en-IN" dirty="0"/>
              <a:t>The objective is to help system administrators quickly diagnose faults, monitor server health, and reduce the effort required for manual log analysis.</a:t>
            </a:r>
          </a:p>
          <a:p>
            <a:endParaRPr lang="en-IN" dirty="0"/>
          </a:p>
        </p:txBody>
      </p:sp>
    </p:spTree>
    <p:extLst>
      <p:ext uri="{BB962C8B-B14F-4D97-AF65-F5344CB8AC3E}">
        <p14:creationId xmlns:p14="http://schemas.microsoft.com/office/powerpoint/2010/main" val="16109050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PROBLEM METHODOLOGY</a:t>
            </a:r>
            <a:endParaRPr lang="en-IN" dirty="0"/>
          </a:p>
        </p:txBody>
      </p:sp>
      <p:sp>
        <p:nvSpPr>
          <p:cNvPr id="3" name="Content Placeholder 2"/>
          <p:cNvSpPr>
            <a:spLocks noGrp="1"/>
          </p:cNvSpPr>
          <p:nvPr>
            <p:ph idx="1"/>
          </p:nvPr>
        </p:nvSpPr>
        <p:spPr/>
        <p:txBody>
          <a:bodyPr>
            <a:normAutofit lnSpcReduction="10000"/>
          </a:bodyPr>
          <a:lstStyle/>
          <a:p>
            <a:pPr>
              <a:buFont typeface="Arial" panose="020B0604020202020204" pitchFamily="34" charset="0"/>
              <a:buChar char="•"/>
            </a:pPr>
            <a:r>
              <a:rPr lang="en-US" b="1" dirty="0"/>
              <a:t>Problem</a:t>
            </a:r>
          </a:p>
          <a:p>
            <a:pPr>
              <a:buFont typeface="Arial" panose="020B0604020202020204" pitchFamily="34" charset="0"/>
              <a:buChar char="•"/>
            </a:pPr>
            <a:r>
              <a:rPr lang="en-US" dirty="0"/>
              <a:t>Server systems generate millions of log entries continuously. Manually examining these logs to identify recurring errors is time-consuming and inefficient. Important error patterns may be missed, especially when the log files are very large.</a:t>
            </a:r>
          </a:p>
          <a:p>
            <a:pPr>
              <a:buFont typeface="Arial" panose="020B0604020202020204" pitchFamily="34" charset="0"/>
              <a:buChar char="•"/>
            </a:pPr>
            <a:r>
              <a:rPr lang="en-US" dirty="0"/>
              <a:t>The proposed system solves this problem by automatically searching log files for </a:t>
            </a:r>
            <a:r>
              <a:rPr lang="en-US" b="1" dirty="0"/>
              <a:t>predefined error signatures</a:t>
            </a:r>
            <a:r>
              <a:rPr lang="en-US" dirty="0"/>
              <a:t>, identifying matching logs, measuring their frequency, classifying their severity, and generating summary reports.</a:t>
            </a:r>
          </a:p>
        </p:txBody>
      </p:sp>
    </p:spTree>
    <p:extLst>
      <p:ext uri="{BB962C8B-B14F-4D97-AF65-F5344CB8AC3E}">
        <p14:creationId xmlns:p14="http://schemas.microsoft.com/office/powerpoint/2010/main" val="37970104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4968" y="127820"/>
            <a:ext cx="11058831" cy="6730180"/>
          </a:xfrm>
        </p:spPr>
        <p:txBody>
          <a:bodyPr>
            <a:normAutofit fontScale="85000" lnSpcReduction="20000"/>
          </a:bodyPr>
          <a:lstStyle/>
          <a:p>
            <a:pPr marL="0" indent="0">
              <a:buNone/>
            </a:pPr>
            <a:r>
              <a:rPr lang="en-US" sz="3300" b="1" baseline="-25000" dirty="0"/>
              <a:t>Methodology</a:t>
            </a:r>
          </a:p>
          <a:p>
            <a:pPr>
              <a:buFont typeface="Arial" panose="020B0604020202020204" pitchFamily="34" charset="0"/>
              <a:buChar char="•"/>
            </a:pPr>
            <a:r>
              <a:rPr lang="en-US" b="1" baseline="-25000" dirty="0"/>
              <a:t>Collect Log Files</a:t>
            </a:r>
            <a:r>
              <a:rPr lang="en-US" baseline="-25000" dirty="0"/>
              <a:t/>
            </a:r>
            <a:br>
              <a:rPr lang="en-US" baseline="-25000" dirty="0"/>
            </a:br>
            <a:r>
              <a:rPr lang="en-US" baseline="-25000" dirty="0"/>
              <a:t>Gather server logs containing system events, warnings, and errors. </a:t>
            </a:r>
          </a:p>
          <a:p>
            <a:pPr>
              <a:buFont typeface="Arial" panose="020B0604020202020204" pitchFamily="34" charset="0"/>
              <a:buChar char="•"/>
            </a:pPr>
            <a:r>
              <a:rPr lang="en-US" b="1" baseline="-25000" dirty="0"/>
              <a:t>Preprocess Logs</a:t>
            </a:r>
            <a:r>
              <a:rPr lang="en-US" baseline="-25000" dirty="0"/>
              <a:t/>
            </a:r>
            <a:br>
              <a:rPr lang="en-US" baseline="-25000" dirty="0"/>
            </a:br>
            <a:r>
              <a:rPr lang="en-US" baseline="-25000" dirty="0"/>
              <a:t>Read and organize log entries by extracting useful information such as timestamp, message, and severity. </a:t>
            </a:r>
          </a:p>
          <a:p>
            <a:pPr>
              <a:buFont typeface="Arial" panose="020B0604020202020204" pitchFamily="34" charset="0"/>
              <a:buChar char="•"/>
            </a:pPr>
            <a:r>
              <a:rPr lang="en-US" b="1" baseline="-25000" dirty="0"/>
              <a:t>Define Error Patterns</a:t>
            </a:r>
            <a:r>
              <a:rPr lang="en-US" baseline="-25000" dirty="0"/>
              <a:t/>
            </a:r>
            <a:br>
              <a:rPr lang="en-US" baseline="-25000" dirty="0"/>
            </a:br>
            <a:r>
              <a:rPr lang="en-US" baseline="-25000" dirty="0"/>
              <a:t>Store predefined error signatures such as: </a:t>
            </a:r>
          </a:p>
          <a:p>
            <a:pPr lvl="1">
              <a:buFont typeface="Arial" panose="020B0604020202020204" pitchFamily="34" charset="0"/>
              <a:buChar char="•"/>
            </a:pPr>
            <a:r>
              <a:rPr lang="en-US" baseline="-25000" dirty="0"/>
              <a:t>Database connection failed </a:t>
            </a:r>
          </a:p>
          <a:p>
            <a:pPr lvl="1">
              <a:buFont typeface="Arial" panose="020B0604020202020204" pitchFamily="34" charset="0"/>
              <a:buChar char="•"/>
            </a:pPr>
            <a:r>
              <a:rPr lang="en-US" baseline="-25000" dirty="0"/>
              <a:t>Authentication failed </a:t>
            </a:r>
          </a:p>
          <a:p>
            <a:pPr lvl="1">
              <a:buFont typeface="Arial" panose="020B0604020202020204" pitchFamily="34" charset="0"/>
              <a:buChar char="•"/>
            </a:pPr>
            <a:r>
              <a:rPr lang="en-US" baseline="-25000" dirty="0"/>
              <a:t>Connection timeout </a:t>
            </a:r>
          </a:p>
          <a:p>
            <a:pPr lvl="1">
              <a:buFont typeface="Arial" panose="020B0604020202020204" pitchFamily="34" charset="0"/>
              <a:buChar char="•"/>
            </a:pPr>
            <a:r>
              <a:rPr lang="en-US" baseline="-25000" dirty="0"/>
              <a:t>Out of memory </a:t>
            </a:r>
          </a:p>
          <a:p>
            <a:pPr>
              <a:buFont typeface="Arial" panose="020B0604020202020204" pitchFamily="34" charset="0"/>
              <a:buChar char="•"/>
            </a:pPr>
            <a:r>
              <a:rPr lang="en-US" b="1" baseline="-25000" dirty="0"/>
              <a:t>Efficient Pattern Matching</a:t>
            </a:r>
            <a:r>
              <a:rPr lang="en-US" baseline="-25000" dirty="0"/>
              <a:t/>
            </a:r>
            <a:br>
              <a:rPr lang="en-US" baseline="-25000" dirty="0"/>
            </a:br>
            <a:r>
              <a:rPr lang="en-US" baseline="-25000" dirty="0"/>
              <a:t>Use algorithms such as </a:t>
            </a:r>
            <a:r>
              <a:rPr lang="en-US" b="1" baseline="-25000" dirty="0"/>
              <a:t>KMP, Rabin-Karp, or </a:t>
            </a:r>
            <a:r>
              <a:rPr lang="en-US" b="1" baseline="-25000" dirty="0" err="1"/>
              <a:t>Aho-Corasick</a:t>
            </a:r>
            <a:r>
              <a:rPr lang="en-US" baseline="-25000" dirty="0"/>
              <a:t> to search for patterns efficiently in large log files. </a:t>
            </a:r>
          </a:p>
          <a:p>
            <a:pPr>
              <a:buFont typeface="Arial" panose="020B0604020202020204" pitchFamily="34" charset="0"/>
              <a:buChar char="•"/>
            </a:pPr>
            <a:r>
              <a:rPr lang="en-US" b="1" baseline="-25000" dirty="0"/>
              <a:t>Detect Matched Logs</a:t>
            </a:r>
            <a:r>
              <a:rPr lang="en-US" baseline="-25000" dirty="0"/>
              <a:t/>
            </a:r>
            <a:br>
              <a:rPr lang="en-US" baseline="-25000" dirty="0"/>
            </a:br>
            <a:r>
              <a:rPr lang="en-US" baseline="-25000" dirty="0"/>
              <a:t>Identify and record every log entry containing a predefined error pattern. </a:t>
            </a:r>
          </a:p>
          <a:p>
            <a:pPr>
              <a:buFont typeface="Arial" panose="020B0604020202020204" pitchFamily="34" charset="0"/>
              <a:buChar char="•"/>
            </a:pPr>
            <a:r>
              <a:rPr lang="en-US" b="1" baseline="-25000" dirty="0"/>
              <a:t>Frequency Analysis</a:t>
            </a:r>
            <a:r>
              <a:rPr lang="en-US" baseline="-25000" dirty="0"/>
              <a:t/>
            </a:r>
            <a:br>
              <a:rPr lang="en-US" baseline="-25000" dirty="0"/>
            </a:br>
            <a:r>
              <a:rPr lang="en-US" baseline="-25000" dirty="0"/>
              <a:t>Count how many times each error occurs and identify recurring problems. </a:t>
            </a:r>
          </a:p>
          <a:p>
            <a:pPr>
              <a:buFont typeface="Arial" panose="020B0604020202020204" pitchFamily="34" charset="0"/>
              <a:buChar char="•"/>
            </a:pPr>
            <a:r>
              <a:rPr lang="en-US" b="1" baseline="-25000" dirty="0"/>
              <a:t>Severity Classification</a:t>
            </a:r>
            <a:r>
              <a:rPr lang="en-US" baseline="-25000" dirty="0"/>
              <a:t/>
            </a:r>
            <a:br>
              <a:rPr lang="en-US" baseline="-25000" dirty="0"/>
            </a:br>
            <a:r>
              <a:rPr lang="en-US" baseline="-25000" dirty="0"/>
              <a:t>Categorize detected errors as </a:t>
            </a:r>
            <a:r>
              <a:rPr lang="en-US" b="1" baseline="-25000" dirty="0"/>
              <a:t>Warning, Error, or Critical</a:t>
            </a:r>
            <a:r>
              <a:rPr lang="en-US" baseline="-25000" dirty="0"/>
              <a:t> based on predefined rules. </a:t>
            </a:r>
          </a:p>
          <a:p>
            <a:pPr>
              <a:buFont typeface="Arial" panose="020B0604020202020204" pitchFamily="34" charset="0"/>
              <a:buChar char="•"/>
            </a:pPr>
            <a:r>
              <a:rPr lang="en-US" b="1" baseline="-25000" dirty="0"/>
              <a:t>Generate Summary Report</a:t>
            </a:r>
            <a:r>
              <a:rPr lang="en-US" baseline="-25000" dirty="0"/>
              <a:t/>
            </a:r>
            <a:br>
              <a:rPr lang="en-US" baseline="-25000" dirty="0"/>
            </a:br>
            <a:r>
              <a:rPr lang="en-US" baseline="-25000" dirty="0"/>
              <a:t>Display the error pattern, frequency, severity, timestamps, and matched log entries. </a:t>
            </a:r>
          </a:p>
          <a:p>
            <a:pPr>
              <a:buFont typeface="Arial" panose="020B0604020202020204" pitchFamily="34" charset="0"/>
              <a:buChar char="•"/>
            </a:pPr>
            <a:r>
              <a:rPr lang="en-US" b="1" baseline="-25000" dirty="0"/>
              <a:t>Continuous Monitoring</a:t>
            </a:r>
            <a:r>
              <a:rPr lang="en-US" baseline="-25000" dirty="0"/>
              <a:t/>
            </a:r>
            <a:br>
              <a:rPr lang="en-US" baseline="-25000" dirty="0"/>
            </a:br>
            <a:r>
              <a:rPr lang="en-US" baseline="-25000" dirty="0"/>
              <a:t>Continuously monitor newly generated log entries and detect errors in near real time.</a:t>
            </a:r>
          </a:p>
          <a:p>
            <a:pPr>
              <a:buFont typeface="Arial" panose="020B0604020202020204" pitchFamily="34" charset="0"/>
              <a:buChar char="•"/>
            </a:pPr>
            <a:endParaRPr lang="en-IN" baseline="-25000" dirty="0"/>
          </a:p>
        </p:txBody>
      </p:sp>
    </p:spTree>
    <p:extLst>
      <p:ext uri="{BB962C8B-B14F-4D97-AF65-F5344CB8AC3E}">
        <p14:creationId xmlns:p14="http://schemas.microsoft.com/office/powerpoint/2010/main" val="18758015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2284" y="698090"/>
            <a:ext cx="10901516" cy="5478873"/>
          </a:xfrm>
        </p:spPr>
        <p:txBody>
          <a:bodyPr>
            <a:normAutofit fontScale="77500" lnSpcReduction="20000"/>
          </a:bodyPr>
          <a:lstStyle/>
          <a:p>
            <a:pPr>
              <a:buFont typeface="Arial" panose="020B0604020202020204" pitchFamily="34" charset="0"/>
              <a:buChar char="•"/>
            </a:pPr>
            <a:r>
              <a:rPr lang="en-IN" b="1" dirty="0"/>
              <a:t>Methodology </a:t>
            </a:r>
            <a:r>
              <a:rPr lang="en-IN" b="1" dirty="0" smtClean="0"/>
              <a:t>Flow</a:t>
            </a:r>
          </a:p>
          <a:p>
            <a:pPr marL="0" indent="0">
              <a:buNone/>
            </a:pPr>
            <a:endParaRPr lang="en-IN" b="1" dirty="0"/>
          </a:p>
          <a:p>
            <a:pPr marL="0" indent="0">
              <a:buNone/>
            </a:pPr>
            <a:r>
              <a:rPr lang="en-IN" b="1" dirty="0" smtClean="0"/>
              <a:t>                                    Log </a:t>
            </a:r>
            <a:r>
              <a:rPr lang="en-IN" b="1" dirty="0"/>
              <a:t>Files + Error Patterns</a:t>
            </a:r>
            <a:r>
              <a:rPr lang="en-IN" dirty="0"/>
              <a:t/>
            </a:r>
            <a:br>
              <a:rPr lang="en-IN" dirty="0"/>
            </a:br>
            <a:r>
              <a:rPr lang="en-IN" dirty="0" smtClean="0"/>
              <a:t>                                                     ↓</a:t>
            </a:r>
            <a:r>
              <a:rPr lang="en-IN" dirty="0"/>
              <a:t/>
            </a:r>
            <a:br>
              <a:rPr lang="en-IN" dirty="0"/>
            </a:br>
            <a:r>
              <a:rPr lang="en-IN" dirty="0" smtClean="0"/>
              <a:t>                                          </a:t>
            </a:r>
            <a:r>
              <a:rPr lang="en-IN" b="1" dirty="0" err="1" smtClean="0"/>
              <a:t>Preprocessing</a:t>
            </a:r>
            <a:r>
              <a:rPr lang="en-IN" dirty="0"/>
              <a:t/>
            </a:r>
            <a:br>
              <a:rPr lang="en-IN" dirty="0"/>
            </a:br>
            <a:r>
              <a:rPr lang="en-IN" dirty="0" smtClean="0"/>
              <a:t>                                                     ↓</a:t>
            </a:r>
            <a:r>
              <a:rPr lang="en-IN" dirty="0"/>
              <a:t/>
            </a:r>
            <a:br>
              <a:rPr lang="en-IN" dirty="0"/>
            </a:br>
            <a:r>
              <a:rPr lang="en-IN" dirty="0" smtClean="0"/>
              <a:t>                                   </a:t>
            </a:r>
            <a:r>
              <a:rPr lang="en-IN" b="1" dirty="0" smtClean="0"/>
              <a:t>Efficient </a:t>
            </a:r>
            <a:r>
              <a:rPr lang="en-IN" b="1" dirty="0"/>
              <a:t>String Matching</a:t>
            </a:r>
            <a:r>
              <a:rPr lang="en-IN" dirty="0"/>
              <a:t/>
            </a:r>
            <a:br>
              <a:rPr lang="en-IN" dirty="0"/>
            </a:br>
            <a:r>
              <a:rPr lang="en-IN" dirty="0" smtClean="0"/>
              <a:t>                                                     ↓</a:t>
            </a:r>
            <a:r>
              <a:rPr lang="en-IN" dirty="0"/>
              <a:t/>
            </a:r>
            <a:br>
              <a:rPr lang="en-IN" dirty="0"/>
            </a:br>
            <a:r>
              <a:rPr lang="en-IN" dirty="0" smtClean="0"/>
              <a:t>                                           </a:t>
            </a:r>
            <a:r>
              <a:rPr lang="en-IN" b="1" dirty="0" smtClean="0"/>
              <a:t>Matched </a:t>
            </a:r>
            <a:r>
              <a:rPr lang="en-IN" b="1" dirty="0"/>
              <a:t>Logs</a:t>
            </a:r>
            <a:r>
              <a:rPr lang="en-IN" dirty="0"/>
              <a:t/>
            </a:r>
            <a:br>
              <a:rPr lang="en-IN" dirty="0"/>
            </a:br>
            <a:r>
              <a:rPr lang="en-IN" dirty="0" smtClean="0"/>
              <a:t>                                                     ↓</a:t>
            </a:r>
            <a:r>
              <a:rPr lang="en-IN" dirty="0"/>
              <a:t/>
            </a:r>
            <a:br>
              <a:rPr lang="en-IN" dirty="0"/>
            </a:br>
            <a:r>
              <a:rPr lang="en-IN" dirty="0" smtClean="0"/>
              <a:t>                                      </a:t>
            </a:r>
            <a:r>
              <a:rPr lang="en-IN" b="1" dirty="0" smtClean="0"/>
              <a:t>Frequency </a:t>
            </a:r>
            <a:r>
              <a:rPr lang="en-IN" b="1" dirty="0"/>
              <a:t>Analysis</a:t>
            </a:r>
            <a:r>
              <a:rPr lang="en-IN" dirty="0"/>
              <a:t/>
            </a:r>
            <a:br>
              <a:rPr lang="en-IN" dirty="0"/>
            </a:br>
            <a:r>
              <a:rPr lang="en-IN" dirty="0" smtClean="0"/>
              <a:t>                                                     ↓</a:t>
            </a:r>
            <a:r>
              <a:rPr lang="en-IN" dirty="0"/>
              <a:t/>
            </a:r>
            <a:br>
              <a:rPr lang="en-IN" dirty="0"/>
            </a:br>
            <a:r>
              <a:rPr lang="en-IN" dirty="0" smtClean="0"/>
              <a:t>                                      </a:t>
            </a:r>
            <a:r>
              <a:rPr lang="en-IN" b="1" dirty="0" smtClean="0"/>
              <a:t>Severity </a:t>
            </a:r>
            <a:r>
              <a:rPr lang="en-IN" b="1" dirty="0"/>
              <a:t>Classification</a:t>
            </a:r>
            <a:r>
              <a:rPr lang="en-IN" dirty="0"/>
              <a:t/>
            </a:r>
            <a:br>
              <a:rPr lang="en-IN" dirty="0"/>
            </a:br>
            <a:r>
              <a:rPr lang="en-IN" dirty="0" smtClean="0"/>
              <a:t>                                                     ↓</a:t>
            </a:r>
            <a:r>
              <a:rPr lang="en-IN" dirty="0"/>
              <a:t/>
            </a:r>
            <a:br>
              <a:rPr lang="en-IN" dirty="0"/>
            </a:br>
            <a:r>
              <a:rPr lang="en-IN" dirty="0" smtClean="0"/>
              <a:t>                                         </a:t>
            </a:r>
            <a:r>
              <a:rPr lang="en-IN" b="1" dirty="0" smtClean="0"/>
              <a:t>Summary </a:t>
            </a:r>
            <a:r>
              <a:rPr lang="en-IN" b="1" dirty="0"/>
              <a:t>Report</a:t>
            </a:r>
            <a:r>
              <a:rPr lang="en-IN" dirty="0"/>
              <a:t/>
            </a:r>
            <a:br>
              <a:rPr lang="en-IN" dirty="0"/>
            </a:br>
            <a:r>
              <a:rPr lang="en-IN" dirty="0" smtClean="0"/>
              <a:t>                                                     ↓</a:t>
            </a:r>
            <a:r>
              <a:rPr lang="en-IN" dirty="0"/>
              <a:t/>
            </a:r>
            <a:br>
              <a:rPr lang="en-IN" dirty="0"/>
            </a:br>
            <a:r>
              <a:rPr lang="en-IN" dirty="0" smtClean="0"/>
              <a:t>                                </a:t>
            </a:r>
            <a:r>
              <a:rPr lang="en-IN" b="1" dirty="0" smtClean="0"/>
              <a:t>Continuous </a:t>
            </a:r>
            <a:r>
              <a:rPr lang="en-IN" b="1" dirty="0"/>
              <a:t>Log Monitoring</a:t>
            </a:r>
            <a:endParaRPr lang="en-IN" dirty="0"/>
          </a:p>
        </p:txBody>
      </p:sp>
    </p:spTree>
    <p:extLst>
      <p:ext uri="{BB962C8B-B14F-4D97-AF65-F5344CB8AC3E}">
        <p14:creationId xmlns:p14="http://schemas.microsoft.com/office/powerpoint/2010/main" val="35307817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C90FB-B686-18AA-C94E-706C1E13F31C}"/>
              </a:ext>
            </a:extLst>
          </p:cNvPr>
          <p:cNvSpPr>
            <a:spLocks noGrp="1"/>
          </p:cNvSpPr>
          <p:nvPr>
            <p:ph type="title"/>
          </p:nvPr>
        </p:nvSpPr>
        <p:spPr/>
        <p:txBody>
          <a:bodyPr/>
          <a:lstStyle/>
          <a:p>
            <a:r>
              <a:rPr lang="en-US" dirty="0"/>
              <a:t>OBJECTIVES</a:t>
            </a:r>
            <a:endParaRPr lang="en-IN" dirty="0"/>
          </a:p>
        </p:txBody>
      </p:sp>
      <p:sp>
        <p:nvSpPr>
          <p:cNvPr id="3" name="Content Placeholder 2">
            <a:extLst>
              <a:ext uri="{FF2B5EF4-FFF2-40B4-BE49-F238E27FC236}">
                <a16:creationId xmlns:a16="http://schemas.microsoft.com/office/drawing/2014/main" id="{A9916A62-0ABC-0591-37D9-3E8CE38BBF5F}"/>
              </a:ext>
            </a:extLst>
          </p:cNvPr>
          <p:cNvSpPr>
            <a:spLocks noGrp="1"/>
          </p:cNvSpPr>
          <p:nvPr>
            <p:ph idx="1"/>
          </p:nvPr>
        </p:nvSpPr>
        <p:spPr>
          <a:xfrm>
            <a:off x="206829" y="1589314"/>
            <a:ext cx="11146971" cy="4587649"/>
          </a:xfrm>
        </p:spPr>
        <p:txBody>
          <a:bodyPr>
            <a:normAutofit fontScale="70000" lnSpcReduction="20000"/>
          </a:bodyPr>
          <a:lstStyle/>
          <a:p>
            <a:pPr>
              <a:buFont typeface="Arial" panose="020B0604020202020204" pitchFamily="34" charset="0"/>
              <a:buChar char="•"/>
            </a:pPr>
            <a:r>
              <a:rPr lang="en-US" dirty="0"/>
              <a:t>To develop an efficient log analysis system capable of processing millions of server log entries.</a:t>
            </a:r>
          </a:p>
          <a:p>
            <a:pPr>
              <a:buFont typeface="Arial" panose="020B0604020202020204" pitchFamily="34" charset="0"/>
              <a:buChar char="•"/>
            </a:pPr>
            <a:r>
              <a:rPr lang="en-US" dirty="0"/>
              <a:t>To identify recurring error patterns using predefined error signatures and efficient string-matching algorithms.</a:t>
            </a:r>
          </a:p>
          <a:p>
            <a:pPr>
              <a:buFont typeface="Arial" panose="020B0604020202020204" pitchFamily="34" charset="0"/>
              <a:buChar char="•"/>
            </a:pPr>
            <a:r>
              <a:rPr lang="en-US" dirty="0"/>
              <a:t>To categorize detected errors based on their frequency and severity levels.</a:t>
            </a:r>
          </a:p>
          <a:p>
            <a:pPr>
              <a:buFont typeface="Arial" panose="020B0604020202020204" pitchFamily="34" charset="0"/>
              <a:buChar char="•"/>
            </a:pPr>
            <a:r>
              <a:rPr lang="en-US" dirty="0"/>
              <a:t>To enable continuous monitoring of log files and detect newly occurring errors in real time.</a:t>
            </a:r>
          </a:p>
          <a:p>
            <a:pPr>
              <a:buFont typeface="Arial" panose="020B0604020202020204" pitchFamily="34" charset="0"/>
              <a:buChar char="•"/>
            </a:pPr>
            <a:r>
              <a:rPr lang="en-US" dirty="0"/>
              <a:t>To generate summary reports containing error patterns, frequencies, timestamps, and severity levels.</a:t>
            </a:r>
          </a:p>
          <a:p>
            <a:pPr>
              <a:buFont typeface="Arial" panose="020B0604020202020204" pitchFamily="34" charset="0"/>
              <a:buChar char="•"/>
            </a:pPr>
            <a:r>
              <a:rPr lang="en-US" dirty="0"/>
              <a:t>To reduce the time and effort required for manual analysis of large server log files.</a:t>
            </a:r>
          </a:p>
          <a:p>
            <a:pPr>
              <a:buFont typeface="Arial" panose="020B0604020202020204" pitchFamily="34" charset="0"/>
              <a:buChar char="•"/>
            </a:pPr>
            <a:r>
              <a:rPr lang="en-US" dirty="0"/>
              <a:t>To assist system administrators in faster fault diagnosis and proactive server maintenance.</a:t>
            </a:r>
          </a:p>
          <a:p>
            <a:pPr>
              <a:buFont typeface="Arial" panose="020B0604020202020204" pitchFamily="34" charset="0"/>
              <a:buChar char="•"/>
            </a:pPr>
            <a:r>
              <a:rPr lang="en-US" dirty="0"/>
              <a:t>To provide a scalable solution that can handle large and continuously growing datasets efficiently.</a:t>
            </a:r>
            <a:endParaRPr lang="en-IN" dirty="0"/>
          </a:p>
        </p:txBody>
      </p:sp>
    </p:spTree>
    <p:extLst>
      <p:ext uri="{BB962C8B-B14F-4D97-AF65-F5344CB8AC3E}">
        <p14:creationId xmlns:p14="http://schemas.microsoft.com/office/powerpoint/2010/main" val="27764148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5973" y="137652"/>
            <a:ext cx="10321413" cy="816077"/>
          </a:xfrm>
        </p:spPr>
        <p:txBody>
          <a:bodyPr/>
          <a:lstStyle/>
          <a:p>
            <a:r>
              <a:rPr lang="en-IN" dirty="0" smtClean="0"/>
              <a:t>REQUIREMENTS</a:t>
            </a:r>
            <a:endParaRPr lang="en-IN" dirty="0"/>
          </a:p>
        </p:txBody>
      </p:sp>
      <p:sp>
        <p:nvSpPr>
          <p:cNvPr id="3" name="Content Placeholder 2"/>
          <p:cNvSpPr>
            <a:spLocks noGrp="1"/>
          </p:cNvSpPr>
          <p:nvPr>
            <p:ph idx="1"/>
          </p:nvPr>
        </p:nvSpPr>
        <p:spPr>
          <a:xfrm>
            <a:off x="235973" y="1120877"/>
            <a:ext cx="11117827" cy="5535561"/>
          </a:xfrm>
        </p:spPr>
        <p:txBody>
          <a:bodyPr/>
          <a:lstStyle/>
          <a:p>
            <a:pPr>
              <a:buFont typeface="Arial" panose="020B0604020202020204" pitchFamily="34" charset="0"/>
              <a:buChar char="•"/>
            </a:pPr>
            <a:r>
              <a:rPr lang="en-IN" b="1" dirty="0"/>
              <a:t>Hardware Requirements</a:t>
            </a:r>
          </a:p>
          <a:p>
            <a:pPr marL="0" indent="0">
              <a:buNone/>
            </a:pPr>
            <a:r>
              <a:rPr lang="en-IN" b="1" dirty="0"/>
              <a:t>Processor:</a:t>
            </a:r>
            <a:r>
              <a:rPr lang="en-IN" dirty="0"/>
              <a:t> Intel Core i3 or above </a:t>
            </a:r>
          </a:p>
          <a:p>
            <a:pPr marL="0" indent="0">
              <a:buNone/>
            </a:pPr>
            <a:r>
              <a:rPr lang="en-IN" b="1" dirty="0"/>
              <a:t>RAM:</a:t>
            </a:r>
            <a:r>
              <a:rPr lang="en-IN" dirty="0"/>
              <a:t> Minimum 4 GB, recommended 8 GB </a:t>
            </a:r>
          </a:p>
          <a:p>
            <a:pPr marL="0" indent="0">
              <a:buNone/>
            </a:pPr>
            <a:r>
              <a:rPr lang="en-IN" b="1" dirty="0"/>
              <a:t>Storage:</a:t>
            </a:r>
            <a:r>
              <a:rPr lang="en-IN" dirty="0"/>
              <a:t> Minimum 10 GB free space </a:t>
            </a:r>
          </a:p>
          <a:p>
            <a:pPr marL="0" indent="0">
              <a:buNone/>
            </a:pPr>
            <a:r>
              <a:rPr lang="en-IN" b="1" dirty="0"/>
              <a:t>System:</a:t>
            </a:r>
            <a:r>
              <a:rPr lang="en-IN" dirty="0"/>
              <a:t> Laptop/Desktop </a:t>
            </a:r>
          </a:p>
          <a:p>
            <a:pPr marL="0" indent="0">
              <a:buNone/>
            </a:pPr>
            <a:r>
              <a:rPr lang="en-IN" b="1" dirty="0"/>
              <a:t>Internet:</a:t>
            </a:r>
            <a:r>
              <a:rPr lang="en-IN" dirty="0"/>
              <a:t> Required for downloading datasets and software packages</a:t>
            </a:r>
          </a:p>
          <a:p>
            <a:endParaRPr lang="en-IN" dirty="0"/>
          </a:p>
        </p:txBody>
      </p:sp>
    </p:spTree>
    <p:extLst>
      <p:ext uri="{BB962C8B-B14F-4D97-AF65-F5344CB8AC3E}">
        <p14:creationId xmlns:p14="http://schemas.microsoft.com/office/powerpoint/2010/main" val="17159447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5303" y="344129"/>
            <a:ext cx="11078497" cy="5832834"/>
          </a:xfrm>
        </p:spPr>
        <p:txBody>
          <a:bodyPr>
            <a:normAutofit lnSpcReduction="10000"/>
          </a:bodyPr>
          <a:lstStyle/>
          <a:p>
            <a:pPr>
              <a:buFont typeface="Arial" panose="020B0604020202020204" pitchFamily="34" charset="0"/>
              <a:buChar char="•"/>
            </a:pPr>
            <a:r>
              <a:rPr lang="en-IN" b="1" dirty="0"/>
              <a:t>Software </a:t>
            </a:r>
            <a:r>
              <a:rPr lang="en-IN" b="1" dirty="0" smtClean="0"/>
              <a:t>Requirements</a:t>
            </a:r>
          </a:p>
          <a:p>
            <a:pPr marL="0" indent="0">
              <a:buNone/>
            </a:pPr>
            <a:r>
              <a:rPr lang="en-IN" dirty="0" smtClean="0"/>
              <a:t>Windows </a:t>
            </a:r>
            <a:r>
              <a:rPr lang="en-IN" dirty="0"/>
              <a:t>/ Linux / </a:t>
            </a:r>
            <a:r>
              <a:rPr lang="en-IN" dirty="0" smtClean="0"/>
              <a:t>Ubuntu</a:t>
            </a:r>
          </a:p>
          <a:p>
            <a:pPr marL="0" indent="0">
              <a:buNone/>
            </a:pPr>
            <a:r>
              <a:rPr lang="en-IN" dirty="0"/>
              <a:t>Python </a:t>
            </a:r>
            <a:r>
              <a:rPr lang="en-IN" dirty="0" smtClean="0"/>
              <a:t>3.x</a:t>
            </a:r>
          </a:p>
          <a:p>
            <a:pPr marL="0" indent="0">
              <a:buNone/>
            </a:pPr>
            <a:r>
              <a:rPr lang="en-IN" dirty="0"/>
              <a:t>VS Code / </a:t>
            </a:r>
            <a:r>
              <a:rPr lang="en-IN" dirty="0" err="1" smtClean="0"/>
              <a:t>PyCharm</a:t>
            </a:r>
            <a:endParaRPr lang="en-IN" dirty="0" smtClean="0"/>
          </a:p>
          <a:p>
            <a:pPr marL="0" indent="0">
              <a:buNone/>
            </a:pPr>
            <a:r>
              <a:rPr lang="en-IN" dirty="0" smtClean="0"/>
              <a:t>Flask</a:t>
            </a:r>
          </a:p>
          <a:p>
            <a:pPr marL="0" indent="0">
              <a:buNone/>
            </a:pPr>
            <a:r>
              <a:rPr lang="en-IN" dirty="0" smtClean="0"/>
              <a:t>Pandas</a:t>
            </a:r>
          </a:p>
          <a:p>
            <a:pPr marL="0" indent="0">
              <a:buNone/>
            </a:pPr>
            <a:r>
              <a:rPr lang="en-IN" dirty="0" err="1" smtClean="0"/>
              <a:t>Matplotlib</a:t>
            </a:r>
            <a:endParaRPr lang="en-IN" dirty="0" smtClean="0"/>
          </a:p>
          <a:p>
            <a:pPr marL="0" indent="0">
              <a:buNone/>
            </a:pPr>
            <a:r>
              <a:rPr lang="en-IN" dirty="0"/>
              <a:t>SQLite / </a:t>
            </a:r>
            <a:r>
              <a:rPr lang="en-IN" dirty="0" smtClean="0"/>
              <a:t>MySQL</a:t>
            </a:r>
          </a:p>
          <a:p>
            <a:pPr marL="0" indent="0">
              <a:buNone/>
            </a:pPr>
            <a:r>
              <a:rPr lang="en-IN" dirty="0" smtClean="0"/>
              <a:t>Git/GitHub</a:t>
            </a:r>
          </a:p>
          <a:p>
            <a:pPr marL="0" indent="0">
              <a:buNone/>
            </a:pPr>
            <a:r>
              <a:rPr lang="en-IN" dirty="0"/>
              <a:t>Web Browser</a:t>
            </a:r>
          </a:p>
          <a:p>
            <a:pPr>
              <a:buFont typeface="Arial" panose="020B0604020202020204" pitchFamily="34" charset="0"/>
              <a:buChar char="•"/>
            </a:pPr>
            <a:endParaRPr lang="en-IN" dirty="0"/>
          </a:p>
        </p:txBody>
      </p:sp>
    </p:spTree>
    <p:extLst>
      <p:ext uri="{BB962C8B-B14F-4D97-AF65-F5344CB8AC3E}">
        <p14:creationId xmlns:p14="http://schemas.microsoft.com/office/powerpoint/2010/main" val="18446054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2321353A-90E7-E99D-734A-42CCDFA4372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66157" y="265372"/>
            <a:ext cx="9459686" cy="6307591"/>
          </a:xfrm>
          <a:prstGeom prst="rect">
            <a:avLst/>
          </a:prstGeom>
        </p:spPr>
      </p:pic>
    </p:spTree>
    <p:extLst>
      <p:ext uri="{BB962C8B-B14F-4D97-AF65-F5344CB8AC3E}">
        <p14:creationId xmlns:p14="http://schemas.microsoft.com/office/powerpoint/2010/main" val="28628552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5303" y="365126"/>
            <a:ext cx="11078497" cy="450952"/>
          </a:xfrm>
        </p:spPr>
        <p:txBody>
          <a:bodyPr>
            <a:normAutofit fontScale="90000"/>
          </a:bodyPr>
          <a:lstStyle/>
          <a:p>
            <a:r>
              <a:rPr lang="en-IN" dirty="0" smtClean="0"/>
              <a:t>RESEARCHERS AND RELATED WORK</a:t>
            </a:r>
            <a:endParaRPr lang="en-IN" dirty="0"/>
          </a:p>
        </p:txBody>
      </p:sp>
      <p:graphicFrame>
        <p:nvGraphicFramePr>
          <p:cNvPr id="13" name="Content Placeholder 12"/>
          <p:cNvGraphicFramePr>
            <a:graphicFrameLocks noGrp="1"/>
          </p:cNvGraphicFramePr>
          <p:nvPr>
            <p:ph idx="1"/>
            <p:extLst>
              <p:ext uri="{D42A27DB-BD31-4B8C-83A1-F6EECF244321}">
                <p14:modId xmlns:p14="http://schemas.microsoft.com/office/powerpoint/2010/main" val="2165715280"/>
              </p:ext>
            </p:extLst>
          </p:nvPr>
        </p:nvGraphicFramePr>
        <p:xfrm>
          <a:off x="275304" y="1013439"/>
          <a:ext cx="11602065" cy="5613503"/>
        </p:xfrm>
        <a:graphic>
          <a:graphicData uri="http://schemas.openxmlformats.org/drawingml/2006/table">
            <a:tbl>
              <a:tblPr firstRow="1" bandRow="1">
                <a:tableStyleId>{5940675A-B579-460E-94D1-54222C63F5DA}</a:tableStyleId>
              </a:tblPr>
              <a:tblGrid>
                <a:gridCol w="3867355">
                  <a:extLst>
                    <a:ext uri="{9D8B030D-6E8A-4147-A177-3AD203B41FA5}">
                      <a16:colId xmlns:a16="http://schemas.microsoft.com/office/drawing/2014/main" val="1368716555"/>
                    </a:ext>
                  </a:extLst>
                </a:gridCol>
                <a:gridCol w="3867355">
                  <a:extLst>
                    <a:ext uri="{9D8B030D-6E8A-4147-A177-3AD203B41FA5}">
                      <a16:colId xmlns:a16="http://schemas.microsoft.com/office/drawing/2014/main" val="3257820870"/>
                    </a:ext>
                  </a:extLst>
                </a:gridCol>
                <a:gridCol w="3867355">
                  <a:extLst>
                    <a:ext uri="{9D8B030D-6E8A-4147-A177-3AD203B41FA5}">
                      <a16:colId xmlns:a16="http://schemas.microsoft.com/office/drawing/2014/main" val="1504851042"/>
                    </a:ext>
                  </a:extLst>
                </a:gridCol>
              </a:tblGrid>
              <a:tr h="725372">
                <a:tc>
                  <a:txBody>
                    <a:bodyPr/>
                    <a:lstStyle/>
                    <a:p>
                      <a:endParaRPr lang="en-IN" dirty="0" smtClean="0"/>
                    </a:p>
                    <a:p>
                      <a:r>
                        <a:rPr lang="en-IN" dirty="0" smtClean="0"/>
                        <a:t>Researchers</a:t>
                      </a:r>
                      <a:endParaRPr lang="en-IN" b="0" dirty="0"/>
                    </a:p>
                  </a:txBody>
                  <a:tcPr anchor="ctr"/>
                </a:tc>
                <a:tc>
                  <a:txBody>
                    <a:bodyPr/>
                    <a:lstStyle/>
                    <a:p>
                      <a:endParaRPr lang="en-IN" dirty="0" smtClean="0"/>
                    </a:p>
                    <a:p>
                      <a:r>
                        <a:rPr lang="en-IN" dirty="0" smtClean="0"/>
                        <a:t>Research / Paper</a:t>
                      </a:r>
                    </a:p>
                  </a:txBody>
                  <a:tcPr/>
                </a:tc>
                <a:tc>
                  <a:txBody>
                    <a:bodyPr/>
                    <a:lstStyle/>
                    <a:p>
                      <a:endParaRPr lang="en-IN" dirty="0" smtClean="0"/>
                    </a:p>
                    <a:p>
                      <a:r>
                        <a:rPr lang="en-IN" dirty="0" smtClean="0"/>
                        <a:t>What they contributed</a:t>
                      </a:r>
                      <a:endParaRPr lang="en-IN" dirty="0"/>
                    </a:p>
                  </a:txBody>
                  <a:tcPr/>
                </a:tc>
                <a:extLst>
                  <a:ext uri="{0D108BD9-81ED-4DB2-BD59-A6C34878D82A}">
                    <a16:rowId xmlns:a16="http://schemas.microsoft.com/office/drawing/2014/main" val="3987124141"/>
                  </a:ext>
                </a:extLst>
              </a:tr>
              <a:tr h="1629377">
                <a:tc>
                  <a:txBody>
                    <a:bodyPr/>
                    <a:lstStyle/>
                    <a:p>
                      <a:r>
                        <a:rPr lang="en-IN" dirty="0" err="1" smtClean="0"/>
                        <a:t>Shilin</a:t>
                      </a:r>
                      <a:r>
                        <a:rPr lang="en-IN" dirty="0" smtClean="0"/>
                        <a:t> He, </a:t>
                      </a:r>
                      <a:r>
                        <a:rPr lang="en-IN" dirty="0" err="1" smtClean="0"/>
                        <a:t>Pinjia</a:t>
                      </a:r>
                      <a:r>
                        <a:rPr lang="en-IN" dirty="0" smtClean="0"/>
                        <a:t> He, </a:t>
                      </a:r>
                      <a:r>
                        <a:rPr lang="en-IN" dirty="0" err="1" smtClean="0"/>
                        <a:t>Zhuangbin</a:t>
                      </a:r>
                      <a:r>
                        <a:rPr lang="en-IN" dirty="0" smtClean="0"/>
                        <a:t> Chen, </a:t>
                      </a:r>
                      <a:r>
                        <a:rPr lang="en-IN" dirty="0" err="1" smtClean="0"/>
                        <a:t>Tianyi</a:t>
                      </a:r>
                      <a:r>
                        <a:rPr lang="en-IN" dirty="0" smtClean="0"/>
                        <a:t> Yang, </a:t>
                      </a:r>
                      <a:r>
                        <a:rPr lang="en-IN" dirty="0" err="1" smtClean="0"/>
                        <a:t>Yuxin</a:t>
                      </a:r>
                      <a:r>
                        <a:rPr lang="en-IN" dirty="0" smtClean="0"/>
                        <a:t> Su &amp; Michael R. </a:t>
                      </a:r>
                      <a:r>
                        <a:rPr lang="en-IN" dirty="0" err="1" smtClean="0"/>
                        <a:t>Lyu</a:t>
                      </a:r>
                      <a:endParaRPr lang="en-IN" dirty="0"/>
                    </a:p>
                  </a:txBody>
                  <a:tcPr/>
                </a:tc>
                <a:tc>
                  <a:txBody>
                    <a:bodyPr/>
                    <a:lstStyle/>
                    <a:p>
                      <a:r>
                        <a:rPr lang="en-US" dirty="0" smtClean="0"/>
                        <a:t>A Survey on Automated Log Analysis for Reliability Engineering</a:t>
                      </a:r>
                      <a:endParaRPr lang="en-IN" dirty="0"/>
                    </a:p>
                  </a:txBody>
                  <a:tcPr/>
                </a:tc>
                <a:tc>
                  <a:txBody>
                    <a:bodyPr/>
                    <a:lstStyle/>
                    <a:p>
                      <a:r>
                        <a:rPr lang="en-US" dirty="0" smtClean="0"/>
                        <a:t>Reviewed automated log parsing, anomaly detection, failure prediction, and diagnosis for large-scale systems. </a:t>
                      </a:r>
                      <a:endParaRPr lang="en-IN" dirty="0"/>
                    </a:p>
                  </a:txBody>
                  <a:tcPr/>
                </a:tc>
                <a:extLst>
                  <a:ext uri="{0D108BD9-81ED-4DB2-BD59-A6C34878D82A}">
                    <a16:rowId xmlns:a16="http://schemas.microsoft.com/office/drawing/2014/main" val="4068621078"/>
                  </a:ext>
                </a:extLst>
              </a:tr>
              <a:tr h="1629377">
                <a:tc>
                  <a:txBody>
                    <a:bodyPr/>
                    <a:lstStyle/>
                    <a:p>
                      <a:r>
                        <a:rPr lang="en-IN" dirty="0" err="1" smtClean="0"/>
                        <a:t>Qiang</a:t>
                      </a:r>
                      <a:r>
                        <a:rPr lang="en-IN" dirty="0" smtClean="0"/>
                        <a:t> Fu, Jian-</a:t>
                      </a:r>
                      <a:r>
                        <a:rPr lang="en-IN" dirty="0" err="1" smtClean="0"/>
                        <a:t>Guang</a:t>
                      </a:r>
                      <a:r>
                        <a:rPr lang="en-IN" dirty="0" smtClean="0"/>
                        <a:t> Lou, Yi Wang &amp; Jiang Li</a:t>
                      </a:r>
                      <a:endParaRPr lang="en-IN" dirty="0"/>
                    </a:p>
                  </a:txBody>
                  <a:tcPr/>
                </a:tc>
                <a:tc>
                  <a:txBody>
                    <a:bodyPr/>
                    <a:lstStyle/>
                    <a:p>
                      <a:r>
                        <a:rPr lang="en-US" dirty="0" smtClean="0"/>
                        <a:t>Execution Anomaly Detection in Distributed Systems through Unstructured Log Analysis</a:t>
                      </a:r>
                      <a:endParaRPr lang="en-IN" dirty="0"/>
                    </a:p>
                  </a:txBody>
                  <a:tcPr/>
                </a:tc>
                <a:tc>
                  <a:txBody>
                    <a:bodyPr/>
                    <a:lstStyle/>
                    <a:p>
                      <a:r>
                        <a:rPr lang="en-US" dirty="0" smtClean="0"/>
                        <a:t>Proposed automatic analysis of unstructured logs and detection of execution anomalies in large distributed systems. </a:t>
                      </a:r>
                      <a:endParaRPr lang="en-IN" dirty="0"/>
                    </a:p>
                  </a:txBody>
                  <a:tcPr/>
                </a:tc>
                <a:extLst>
                  <a:ext uri="{0D108BD9-81ED-4DB2-BD59-A6C34878D82A}">
                    <a16:rowId xmlns:a16="http://schemas.microsoft.com/office/drawing/2014/main" val="3325899855"/>
                  </a:ext>
                </a:extLst>
              </a:tr>
              <a:tr h="1629377">
                <a:tc>
                  <a:txBody>
                    <a:bodyPr/>
                    <a:lstStyle/>
                    <a:p>
                      <a:r>
                        <a:rPr lang="en-IN" dirty="0" err="1" smtClean="0"/>
                        <a:t>Shilin</a:t>
                      </a:r>
                      <a:r>
                        <a:rPr lang="en-IN" dirty="0" smtClean="0"/>
                        <a:t> He, </a:t>
                      </a:r>
                      <a:r>
                        <a:rPr lang="en-IN" dirty="0" err="1" smtClean="0"/>
                        <a:t>Jieming</a:t>
                      </a:r>
                      <a:r>
                        <a:rPr lang="en-IN" dirty="0" smtClean="0"/>
                        <a:t> Zhu, </a:t>
                      </a:r>
                      <a:r>
                        <a:rPr lang="en-IN" dirty="0" err="1" smtClean="0"/>
                        <a:t>Pinjia</a:t>
                      </a:r>
                      <a:r>
                        <a:rPr lang="en-IN" dirty="0" smtClean="0"/>
                        <a:t> He &amp; Michael R. </a:t>
                      </a:r>
                      <a:r>
                        <a:rPr lang="en-IN" dirty="0" err="1" smtClean="0"/>
                        <a:t>Lyu</a:t>
                      </a:r>
                      <a:endParaRPr lang="en-IN" dirty="0"/>
                    </a:p>
                  </a:txBody>
                  <a:tcPr/>
                </a:tc>
                <a:tc>
                  <a:txBody>
                    <a:bodyPr/>
                    <a:lstStyle/>
                    <a:p>
                      <a:r>
                        <a:rPr lang="en-US" dirty="0" smtClean="0"/>
                        <a:t>Experience Report: System Log Analysis for Anomaly Detection</a:t>
                      </a:r>
                      <a:endParaRPr lang="en-IN" dirty="0"/>
                    </a:p>
                  </a:txBody>
                  <a:tcPr/>
                </a:tc>
                <a:tc>
                  <a:txBody>
                    <a:bodyPr/>
                    <a:lstStyle/>
                    <a:p>
                      <a:r>
                        <a:rPr lang="en-US" dirty="0" smtClean="0"/>
                        <a:t>Studied automated log analysis because manual keyword searching becomes difficult when log volume and system complexity increase. </a:t>
                      </a:r>
                      <a:endParaRPr lang="en-IN" dirty="0"/>
                    </a:p>
                  </a:txBody>
                  <a:tcPr/>
                </a:tc>
                <a:extLst>
                  <a:ext uri="{0D108BD9-81ED-4DB2-BD59-A6C34878D82A}">
                    <a16:rowId xmlns:a16="http://schemas.microsoft.com/office/drawing/2014/main" val="615110249"/>
                  </a:ext>
                </a:extLst>
              </a:tr>
            </a:tbl>
          </a:graphicData>
        </a:graphic>
      </p:graphicFrame>
    </p:spTree>
    <p:extLst>
      <p:ext uri="{BB962C8B-B14F-4D97-AF65-F5344CB8AC3E}">
        <p14:creationId xmlns:p14="http://schemas.microsoft.com/office/powerpoint/2010/main" val="13616822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1608002367"/>
              </p:ext>
            </p:extLst>
          </p:nvPr>
        </p:nvGraphicFramePr>
        <p:xfrm>
          <a:off x="648927" y="422785"/>
          <a:ext cx="10783530" cy="6155703"/>
        </p:xfrm>
        <a:graphic>
          <a:graphicData uri="http://schemas.openxmlformats.org/drawingml/2006/table">
            <a:tbl>
              <a:tblPr firstRow="1" bandRow="1">
                <a:tableStyleId>{5940675A-B579-460E-94D1-54222C63F5DA}</a:tableStyleId>
              </a:tblPr>
              <a:tblGrid>
                <a:gridCol w="3594510">
                  <a:extLst>
                    <a:ext uri="{9D8B030D-6E8A-4147-A177-3AD203B41FA5}">
                      <a16:colId xmlns:a16="http://schemas.microsoft.com/office/drawing/2014/main" val="3756861657"/>
                    </a:ext>
                  </a:extLst>
                </a:gridCol>
                <a:gridCol w="3594510">
                  <a:extLst>
                    <a:ext uri="{9D8B030D-6E8A-4147-A177-3AD203B41FA5}">
                      <a16:colId xmlns:a16="http://schemas.microsoft.com/office/drawing/2014/main" val="2884484983"/>
                    </a:ext>
                  </a:extLst>
                </a:gridCol>
                <a:gridCol w="3594510">
                  <a:extLst>
                    <a:ext uri="{9D8B030D-6E8A-4147-A177-3AD203B41FA5}">
                      <a16:colId xmlns:a16="http://schemas.microsoft.com/office/drawing/2014/main" val="912635621"/>
                    </a:ext>
                  </a:extLst>
                </a:gridCol>
              </a:tblGrid>
              <a:tr h="658763">
                <a:tc>
                  <a:txBody>
                    <a:bodyPr/>
                    <a:lstStyle/>
                    <a:p>
                      <a:r>
                        <a:rPr lang="en-IN" dirty="0" smtClean="0"/>
                        <a:t>Researchers</a:t>
                      </a:r>
                      <a:endParaRPr lang="en-IN" b="0" dirty="0"/>
                    </a:p>
                  </a:txBody>
                  <a:tcPr/>
                </a:tc>
                <a:tc>
                  <a:txBody>
                    <a:bodyPr/>
                    <a:lstStyle/>
                    <a:p>
                      <a:r>
                        <a:rPr lang="en-IN" dirty="0" smtClean="0"/>
                        <a:t>Research / Paper</a:t>
                      </a:r>
                    </a:p>
                  </a:txBody>
                  <a:tcPr/>
                </a:tc>
                <a:tc>
                  <a:txBody>
                    <a:bodyPr/>
                    <a:lstStyle/>
                    <a:p>
                      <a:r>
                        <a:rPr lang="en-IN" dirty="0" smtClean="0"/>
                        <a:t>What they contributed</a:t>
                      </a:r>
                      <a:endParaRPr lang="en-IN" dirty="0"/>
                    </a:p>
                  </a:txBody>
                  <a:tcPr/>
                </a:tc>
                <a:extLst>
                  <a:ext uri="{0D108BD9-81ED-4DB2-BD59-A6C34878D82A}">
                    <a16:rowId xmlns:a16="http://schemas.microsoft.com/office/drawing/2014/main" val="1446989064"/>
                  </a:ext>
                </a:extLst>
              </a:tr>
              <a:tr h="1367259">
                <a:tc>
                  <a:txBody>
                    <a:bodyPr/>
                    <a:lstStyle/>
                    <a:p>
                      <a:r>
                        <a:rPr lang="sv-SE" dirty="0" smtClean="0"/>
                        <a:t>Galip Aydin &amp; Ibrahim Riza Hallac</a:t>
                      </a:r>
                      <a:endParaRPr lang="en-IN" dirty="0"/>
                    </a:p>
                  </a:txBody>
                  <a:tcPr/>
                </a:tc>
                <a:tc>
                  <a:txBody>
                    <a:bodyPr/>
                    <a:lstStyle/>
                    <a:p>
                      <a:r>
                        <a:rPr lang="en-US" dirty="0" smtClean="0"/>
                        <a:t>Distributed Log Analysis on the Cloud Using </a:t>
                      </a:r>
                      <a:r>
                        <a:rPr lang="en-US" dirty="0" err="1" smtClean="0"/>
                        <a:t>MapReduce</a:t>
                      </a:r>
                      <a:endParaRPr lang="en-IN" dirty="0"/>
                    </a:p>
                  </a:txBody>
                  <a:tcPr/>
                </a:tc>
                <a:tc>
                  <a:txBody>
                    <a:bodyPr/>
                    <a:lstStyle/>
                    <a:p>
                      <a:r>
                        <a:rPr lang="en-US" dirty="0" smtClean="0"/>
                        <a:t>Developed a distributed approach for processing large web-server logs, including frequency analysis and error detection.</a:t>
                      </a:r>
                      <a:endParaRPr lang="en-IN" dirty="0"/>
                    </a:p>
                  </a:txBody>
                  <a:tcPr/>
                </a:tc>
                <a:extLst>
                  <a:ext uri="{0D108BD9-81ED-4DB2-BD59-A6C34878D82A}">
                    <a16:rowId xmlns:a16="http://schemas.microsoft.com/office/drawing/2014/main" val="58242717"/>
                  </a:ext>
                </a:extLst>
              </a:tr>
              <a:tr h="1102285">
                <a:tc>
                  <a:txBody>
                    <a:bodyPr/>
                    <a:lstStyle/>
                    <a:p>
                      <a:r>
                        <a:rPr lang="en-US" dirty="0" smtClean="0"/>
                        <a:t>Khalid </a:t>
                      </a:r>
                      <a:r>
                        <a:rPr lang="en-US" dirty="0" err="1" smtClean="0"/>
                        <a:t>Alharthi</a:t>
                      </a:r>
                      <a:r>
                        <a:rPr lang="en-US" dirty="0" smtClean="0"/>
                        <a:t>, Arshad </a:t>
                      </a:r>
                      <a:r>
                        <a:rPr lang="en-US" dirty="0" err="1" smtClean="0"/>
                        <a:t>Jhumka</a:t>
                      </a:r>
                      <a:r>
                        <a:rPr lang="en-US" dirty="0" smtClean="0"/>
                        <a:t>, Sheng Di, Franck </a:t>
                      </a:r>
                      <a:r>
                        <a:rPr lang="en-US" dirty="0" err="1" smtClean="0"/>
                        <a:t>Cappello</a:t>
                      </a:r>
                      <a:r>
                        <a:rPr lang="en-US" dirty="0" smtClean="0"/>
                        <a:t> &amp; Edward </a:t>
                      </a:r>
                      <a:r>
                        <a:rPr lang="en-US" dirty="0" err="1" smtClean="0"/>
                        <a:t>Chuah</a:t>
                      </a:r>
                      <a:endParaRPr lang="en-IN" dirty="0"/>
                    </a:p>
                  </a:txBody>
                  <a:tcPr/>
                </a:tc>
                <a:tc>
                  <a:txBody>
                    <a:bodyPr/>
                    <a:lstStyle/>
                    <a:p>
                      <a:r>
                        <a:rPr lang="en-US" dirty="0" smtClean="0"/>
                        <a:t>Sentiment Analysis based Error Detection for Large-Scale Systems</a:t>
                      </a:r>
                      <a:endParaRPr lang="en-IN" dirty="0"/>
                    </a:p>
                  </a:txBody>
                  <a:tcPr/>
                </a:tc>
                <a:tc>
                  <a:txBody>
                    <a:bodyPr/>
                    <a:lstStyle/>
                    <a:p>
                      <a:r>
                        <a:rPr lang="en-US" dirty="0" smtClean="0"/>
                        <a:t>Developed an automated approach for detecting errors in large-scale/HPC system logs and identifying problematic nodes/components. </a:t>
                      </a:r>
                      <a:endParaRPr lang="en-IN" b="1" dirty="0"/>
                    </a:p>
                  </a:txBody>
                  <a:tcPr/>
                </a:tc>
                <a:extLst>
                  <a:ext uri="{0D108BD9-81ED-4DB2-BD59-A6C34878D82A}">
                    <a16:rowId xmlns:a16="http://schemas.microsoft.com/office/drawing/2014/main" val="78040904"/>
                  </a:ext>
                </a:extLst>
              </a:tr>
              <a:tr h="1203601">
                <a:tc>
                  <a:txBody>
                    <a:bodyPr/>
                    <a:lstStyle/>
                    <a:p>
                      <a:r>
                        <a:rPr lang="en-IN" dirty="0" err="1" smtClean="0"/>
                        <a:t>Pengfei</a:t>
                      </a:r>
                      <a:r>
                        <a:rPr lang="en-IN" dirty="0" smtClean="0"/>
                        <a:t> Han, </a:t>
                      </a:r>
                      <a:r>
                        <a:rPr lang="en-IN" dirty="0" err="1" smtClean="0"/>
                        <a:t>Huakang</a:t>
                      </a:r>
                      <a:r>
                        <a:rPr lang="en-IN" dirty="0" smtClean="0"/>
                        <a:t> Li &amp; Gang </a:t>
                      </a:r>
                      <a:r>
                        <a:rPr lang="en-IN" dirty="0" err="1" smtClean="0"/>
                        <a:t>Xue</a:t>
                      </a:r>
                      <a:endParaRPr lang="en-IN" dirty="0"/>
                    </a:p>
                  </a:txBody>
                  <a:tcPr/>
                </a:tc>
                <a:tc>
                  <a:txBody>
                    <a:bodyPr/>
                    <a:lstStyle/>
                    <a:p>
                      <a:r>
                        <a:rPr lang="en-US" dirty="0" smtClean="0"/>
                        <a:t>Distributed system anomaly detection using deep learning-based log analysis</a:t>
                      </a:r>
                      <a:endParaRPr lang="en-IN" dirty="0"/>
                    </a:p>
                  </a:txBody>
                  <a:tcPr/>
                </a:tc>
                <a:tc>
                  <a:txBody>
                    <a:bodyPr/>
                    <a:lstStyle/>
                    <a:p>
                      <a:r>
                        <a:rPr lang="en-US" dirty="0" smtClean="0"/>
                        <a:t>Investigated deep-learning-based analysis of system logs for detecting anomalies in distributed systems. </a:t>
                      </a:r>
                      <a:endParaRPr lang="en-IN" dirty="0"/>
                    </a:p>
                  </a:txBody>
                  <a:tcPr/>
                </a:tc>
                <a:extLst>
                  <a:ext uri="{0D108BD9-81ED-4DB2-BD59-A6C34878D82A}">
                    <a16:rowId xmlns:a16="http://schemas.microsoft.com/office/drawing/2014/main" val="677399949"/>
                  </a:ext>
                </a:extLst>
              </a:tr>
              <a:tr h="540255">
                <a:tc>
                  <a:txBody>
                    <a:bodyPr/>
                    <a:lstStyle/>
                    <a:p>
                      <a:r>
                        <a:rPr lang="en-IN" dirty="0" err="1" smtClean="0"/>
                        <a:t>Shilpika</a:t>
                      </a:r>
                      <a:r>
                        <a:rPr lang="en-IN" dirty="0" smtClean="0"/>
                        <a:t>, Bethany </a:t>
                      </a:r>
                      <a:r>
                        <a:rPr lang="en-IN" dirty="0" err="1" smtClean="0"/>
                        <a:t>Lusch</a:t>
                      </a:r>
                      <a:r>
                        <a:rPr lang="en-IN" dirty="0" smtClean="0"/>
                        <a:t>, Eric </a:t>
                      </a:r>
                      <a:r>
                        <a:rPr lang="en-IN" dirty="0" err="1" smtClean="0"/>
                        <a:t>Pershey</a:t>
                      </a:r>
                      <a:r>
                        <a:rPr lang="en-IN" dirty="0" smtClean="0"/>
                        <a:t> et al.</a:t>
                      </a:r>
                    </a:p>
                    <a:p>
                      <a:endParaRPr lang="en-IN" dirty="0" smtClean="0"/>
                    </a:p>
                    <a:p>
                      <a:endParaRPr lang="en-IN" dirty="0"/>
                    </a:p>
                  </a:txBody>
                  <a:tcPr/>
                </a:tc>
                <a:tc>
                  <a:txBody>
                    <a:bodyPr/>
                    <a:lstStyle/>
                    <a:p>
                      <a:r>
                        <a:rPr lang="en-US" dirty="0" smtClean="0"/>
                        <a:t>A Scalable Pattern Mining Workflow for Interpretable Machine Log Analysis in High-Performance Computing Environments</a:t>
                      </a:r>
                      <a:endParaRPr lang="en-IN" dirty="0"/>
                    </a:p>
                  </a:txBody>
                  <a:tcPr/>
                </a:tc>
                <a:tc>
                  <a:txBody>
                    <a:bodyPr/>
                    <a:lstStyle/>
                    <a:p>
                      <a:r>
                        <a:rPr lang="en-US" dirty="0" smtClean="0"/>
                        <a:t>Particularly close to your project: uses pattern mining and an </a:t>
                      </a:r>
                      <a:r>
                        <a:rPr lang="en-US" b="1" dirty="0" err="1" smtClean="0"/>
                        <a:t>Aho-Corasick</a:t>
                      </a:r>
                      <a:r>
                        <a:rPr lang="en-US" b="1" dirty="0" smtClean="0"/>
                        <a:t> finite-state automaton</a:t>
                      </a:r>
                      <a:r>
                        <a:rPr lang="en-US" dirty="0" smtClean="0"/>
                        <a:t> to identify frequent errors and fault events in massive HPC logs. </a:t>
                      </a:r>
                      <a:endParaRPr lang="en-IN" dirty="0"/>
                    </a:p>
                  </a:txBody>
                  <a:tcPr/>
                </a:tc>
                <a:extLst>
                  <a:ext uri="{0D108BD9-81ED-4DB2-BD59-A6C34878D82A}">
                    <a16:rowId xmlns:a16="http://schemas.microsoft.com/office/drawing/2014/main" val="4245961121"/>
                  </a:ext>
                </a:extLst>
              </a:tr>
            </a:tbl>
          </a:graphicData>
        </a:graphic>
      </p:graphicFrame>
    </p:spTree>
    <p:extLst>
      <p:ext uri="{BB962C8B-B14F-4D97-AF65-F5344CB8AC3E}">
        <p14:creationId xmlns:p14="http://schemas.microsoft.com/office/powerpoint/2010/main" val="41425655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749" y="138983"/>
            <a:ext cx="10515600" cy="686927"/>
          </a:xfrm>
        </p:spPr>
        <p:txBody>
          <a:bodyPr>
            <a:normAutofit fontScale="90000"/>
          </a:bodyPr>
          <a:lstStyle/>
          <a:p>
            <a:r>
              <a:rPr lang="en-IN" dirty="0" smtClean="0"/>
              <a:t>FEATURES</a:t>
            </a:r>
            <a:endParaRPr lang="en-IN" dirty="0"/>
          </a:p>
        </p:txBody>
      </p:sp>
      <p:sp>
        <p:nvSpPr>
          <p:cNvPr id="3" name="Content Placeholder 2"/>
          <p:cNvSpPr>
            <a:spLocks noGrp="1"/>
          </p:cNvSpPr>
          <p:nvPr>
            <p:ph idx="1"/>
          </p:nvPr>
        </p:nvSpPr>
        <p:spPr>
          <a:xfrm>
            <a:off x="294968" y="825910"/>
            <a:ext cx="11058832" cy="5869858"/>
          </a:xfrm>
        </p:spPr>
        <p:txBody>
          <a:bodyPr>
            <a:noAutofit/>
          </a:bodyPr>
          <a:lstStyle/>
          <a:p>
            <a:pPr>
              <a:buFont typeface="Arial" panose="020B0604020202020204" pitchFamily="34" charset="0"/>
              <a:buChar char="•"/>
            </a:pPr>
            <a:r>
              <a:rPr lang="en-IN" sz="1400" b="1" dirty="0"/>
              <a:t>Large Log File Processing</a:t>
            </a:r>
            <a:r>
              <a:rPr lang="en-IN" sz="1400" dirty="0"/>
              <a:t> </a:t>
            </a:r>
          </a:p>
          <a:p>
            <a:pPr lvl="1">
              <a:buFont typeface="Arial" panose="020B0604020202020204" pitchFamily="34" charset="0"/>
              <a:buChar char="•"/>
            </a:pPr>
            <a:r>
              <a:rPr lang="en-IN" sz="1400" dirty="0"/>
              <a:t>Handles millions of server log entries efficiently. </a:t>
            </a:r>
          </a:p>
          <a:p>
            <a:pPr>
              <a:buFont typeface="Arial" panose="020B0604020202020204" pitchFamily="34" charset="0"/>
              <a:buChar char="•"/>
            </a:pPr>
            <a:r>
              <a:rPr lang="en-IN" sz="1400" b="1" dirty="0"/>
              <a:t>Predefined Error Pattern Detection</a:t>
            </a:r>
            <a:r>
              <a:rPr lang="en-IN" sz="1400" dirty="0"/>
              <a:t> </a:t>
            </a:r>
          </a:p>
          <a:p>
            <a:pPr lvl="1">
              <a:buFont typeface="Arial" panose="020B0604020202020204" pitchFamily="34" charset="0"/>
              <a:buChar char="•"/>
            </a:pPr>
            <a:r>
              <a:rPr lang="en-IN" sz="1400" dirty="0"/>
              <a:t>Searches logs for predefined error signatures such as connection failures, timeouts, and authentication errors. </a:t>
            </a:r>
          </a:p>
          <a:p>
            <a:pPr>
              <a:buFont typeface="Arial" panose="020B0604020202020204" pitchFamily="34" charset="0"/>
              <a:buChar char="•"/>
            </a:pPr>
            <a:r>
              <a:rPr lang="en-IN" sz="1400" b="1" dirty="0"/>
              <a:t>Efficient String Matching</a:t>
            </a:r>
            <a:r>
              <a:rPr lang="en-IN" sz="1400" dirty="0"/>
              <a:t> </a:t>
            </a:r>
          </a:p>
          <a:p>
            <a:pPr lvl="1">
              <a:buFont typeface="Arial" panose="020B0604020202020204" pitchFamily="34" charset="0"/>
              <a:buChar char="•"/>
            </a:pPr>
            <a:r>
              <a:rPr lang="en-IN" sz="1400" dirty="0"/>
              <a:t>Uses algorithms such as </a:t>
            </a:r>
            <a:r>
              <a:rPr lang="en-IN" sz="1400" b="1" dirty="0"/>
              <a:t>KMP, Rabin-Karp, or </a:t>
            </a:r>
            <a:r>
              <a:rPr lang="en-IN" sz="1400" b="1" dirty="0" err="1"/>
              <a:t>Aho-Corasick</a:t>
            </a:r>
            <a:r>
              <a:rPr lang="en-IN" sz="1400" dirty="0"/>
              <a:t> for fast pattern searching. </a:t>
            </a:r>
          </a:p>
          <a:p>
            <a:pPr>
              <a:buFont typeface="Arial" panose="020B0604020202020204" pitchFamily="34" charset="0"/>
              <a:buChar char="•"/>
            </a:pPr>
            <a:r>
              <a:rPr lang="en-IN" sz="1400" b="1" dirty="0"/>
              <a:t>Recurring Error Detection</a:t>
            </a:r>
            <a:r>
              <a:rPr lang="en-IN" sz="1400" dirty="0"/>
              <a:t> </a:t>
            </a:r>
          </a:p>
          <a:p>
            <a:pPr lvl="1">
              <a:buFont typeface="Arial" panose="020B0604020202020204" pitchFamily="34" charset="0"/>
              <a:buChar char="•"/>
            </a:pPr>
            <a:r>
              <a:rPr lang="en-IN" sz="1400" dirty="0"/>
              <a:t>Identifies error patterns that occur repeatedly in the logs. </a:t>
            </a:r>
          </a:p>
          <a:p>
            <a:pPr>
              <a:buFont typeface="Arial" panose="020B0604020202020204" pitchFamily="34" charset="0"/>
              <a:buChar char="•"/>
            </a:pPr>
            <a:r>
              <a:rPr lang="en-IN" sz="1400" b="1" dirty="0"/>
              <a:t>Frequency Analysis</a:t>
            </a:r>
            <a:r>
              <a:rPr lang="en-IN" sz="1400" dirty="0"/>
              <a:t> </a:t>
            </a:r>
          </a:p>
          <a:p>
            <a:pPr lvl="1">
              <a:buFont typeface="Arial" panose="020B0604020202020204" pitchFamily="34" charset="0"/>
              <a:buChar char="•"/>
            </a:pPr>
            <a:r>
              <a:rPr lang="en-IN" sz="1400" dirty="0"/>
              <a:t>Counts the number of occurrences of each detected error. </a:t>
            </a:r>
          </a:p>
          <a:p>
            <a:pPr>
              <a:buFont typeface="Arial" panose="020B0604020202020204" pitchFamily="34" charset="0"/>
              <a:buChar char="•"/>
            </a:pPr>
            <a:r>
              <a:rPr lang="en-IN" sz="1400" b="1" dirty="0"/>
              <a:t>Severity Classification</a:t>
            </a:r>
            <a:r>
              <a:rPr lang="en-IN" sz="1400" dirty="0"/>
              <a:t> </a:t>
            </a:r>
          </a:p>
          <a:p>
            <a:pPr lvl="1">
              <a:buFont typeface="Arial" panose="020B0604020202020204" pitchFamily="34" charset="0"/>
              <a:buChar char="•"/>
            </a:pPr>
            <a:r>
              <a:rPr lang="en-IN" sz="1400" dirty="0"/>
              <a:t>Categorizes errors into levels such as </a:t>
            </a:r>
            <a:r>
              <a:rPr lang="en-IN" sz="1400" b="1" dirty="0"/>
              <a:t>INFO, WARNING, ERROR, and CRITICAL</a:t>
            </a:r>
            <a:r>
              <a:rPr lang="en-IN" sz="1400" dirty="0"/>
              <a:t>. </a:t>
            </a:r>
          </a:p>
          <a:p>
            <a:pPr>
              <a:buFont typeface="Arial" panose="020B0604020202020204" pitchFamily="34" charset="0"/>
              <a:buChar char="•"/>
            </a:pPr>
            <a:r>
              <a:rPr lang="en-IN" sz="1400" b="1" dirty="0"/>
              <a:t>Matched Log Display</a:t>
            </a:r>
            <a:r>
              <a:rPr lang="en-IN" sz="1400" dirty="0"/>
              <a:t> </a:t>
            </a:r>
          </a:p>
          <a:p>
            <a:pPr lvl="1">
              <a:buFont typeface="Arial" panose="020B0604020202020204" pitchFamily="34" charset="0"/>
              <a:buChar char="•"/>
            </a:pPr>
            <a:r>
              <a:rPr lang="en-IN" sz="1400" dirty="0"/>
              <a:t>Displays the log entries that match the predefined error patterns. </a:t>
            </a:r>
          </a:p>
          <a:p>
            <a:pPr>
              <a:buFont typeface="Arial" panose="020B0604020202020204" pitchFamily="34" charset="0"/>
              <a:buChar char="•"/>
            </a:pPr>
            <a:r>
              <a:rPr lang="en-IN" sz="1400" b="1" dirty="0"/>
              <a:t>Continuous Log Monitoring</a:t>
            </a:r>
            <a:r>
              <a:rPr lang="en-IN" sz="1400" dirty="0"/>
              <a:t> </a:t>
            </a:r>
          </a:p>
          <a:p>
            <a:pPr lvl="1">
              <a:buFont typeface="Arial" panose="020B0604020202020204" pitchFamily="34" charset="0"/>
              <a:buChar char="•"/>
            </a:pPr>
            <a:r>
              <a:rPr lang="en-IN" sz="1400" dirty="0"/>
              <a:t>Monitors newly generated log entries and detects errors continuously. </a:t>
            </a:r>
          </a:p>
          <a:p>
            <a:pPr>
              <a:buFont typeface="Arial" panose="020B0604020202020204" pitchFamily="34" charset="0"/>
              <a:buChar char="•"/>
            </a:pPr>
            <a:r>
              <a:rPr lang="en-IN" sz="1400" b="1" dirty="0"/>
              <a:t>Summary Report Generation</a:t>
            </a:r>
            <a:r>
              <a:rPr lang="en-IN" sz="1400" dirty="0"/>
              <a:t> </a:t>
            </a:r>
          </a:p>
          <a:p>
            <a:pPr lvl="1">
              <a:buFont typeface="Arial" panose="020B0604020202020204" pitchFamily="34" charset="0"/>
              <a:buChar char="•"/>
            </a:pPr>
            <a:r>
              <a:rPr lang="en-IN" sz="1400" dirty="0"/>
              <a:t>Generates reports containing error type, frequency, severity, and timestamps. </a:t>
            </a:r>
          </a:p>
        </p:txBody>
      </p:sp>
    </p:spTree>
    <p:extLst>
      <p:ext uri="{BB962C8B-B14F-4D97-AF65-F5344CB8AC3E}">
        <p14:creationId xmlns:p14="http://schemas.microsoft.com/office/powerpoint/2010/main" val="33557914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TECHNOLOGY STACK</a:t>
            </a:r>
            <a:endParaRPr lang="en-IN" dirty="0"/>
          </a:p>
        </p:txBody>
      </p:sp>
      <p:sp>
        <p:nvSpPr>
          <p:cNvPr id="3" name="Content Placeholder 2"/>
          <p:cNvSpPr>
            <a:spLocks noGrp="1"/>
          </p:cNvSpPr>
          <p:nvPr>
            <p:ph idx="1"/>
          </p:nvPr>
        </p:nvSpPr>
        <p:spPr/>
        <p:txBody>
          <a:bodyPr>
            <a:normAutofit/>
          </a:bodyPr>
          <a:lstStyle/>
          <a:p>
            <a:pPr marL="0" indent="0">
              <a:buNone/>
            </a:pPr>
            <a:r>
              <a:rPr lang="en-IN" sz="2400" b="1" dirty="0"/>
              <a:t>Frontend:</a:t>
            </a:r>
            <a:r>
              <a:rPr lang="en-IN" sz="2400" dirty="0"/>
              <a:t> HTML + CSS + JavaScript</a:t>
            </a:r>
            <a:br>
              <a:rPr lang="en-IN" sz="2400" dirty="0"/>
            </a:br>
            <a:r>
              <a:rPr lang="en-IN" sz="2400" b="1" dirty="0"/>
              <a:t>Backend:</a:t>
            </a:r>
            <a:r>
              <a:rPr lang="en-IN" sz="2400" dirty="0"/>
              <a:t> Python + Flask</a:t>
            </a:r>
            <a:br>
              <a:rPr lang="en-IN" sz="2400" dirty="0"/>
            </a:br>
            <a:r>
              <a:rPr lang="en-IN" sz="2400" b="1" dirty="0"/>
              <a:t>Algorithm:</a:t>
            </a:r>
            <a:r>
              <a:rPr lang="en-IN" sz="2400" dirty="0"/>
              <a:t> </a:t>
            </a:r>
            <a:r>
              <a:rPr lang="en-IN" sz="2400" dirty="0" err="1"/>
              <a:t>Aho-Corasick</a:t>
            </a:r>
            <a:r>
              <a:rPr lang="en-IN" sz="2400" dirty="0"/>
              <a:t> / KMP</a:t>
            </a:r>
            <a:br>
              <a:rPr lang="en-IN" sz="2400" dirty="0"/>
            </a:br>
            <a:r>
              <a:rPr lang="en-IN" sz="2400" b="1" dirty="0"/>
              <a:t>Database:</a:t>
            </a:r>
            <a:r>
              <a:rPr lang="en-IN" sz="2400" dirty="0"/>
              <a:t> SQLite</a:t>
            </a:r>
            <a:br>
              <a:rPr lang="en-IN" sz="2400" dirty="0"/>
            </a:br>
            <a:r>
              <a:rPr lang="en-IN" sz="2400" b="1" dirty="0"/>
              <a:t>Data Processing:</a:t>
            </a:r>
            <a:r>
              <a:rPr lang="en-IN" sz="2400" dirty="0"/>
              <a:t> Pandas</a:t>
            </a:r>
            <a:br>
              <a:rPr lang="en-IN" sz="2400" dirty="0"/>
            </a:br>
            <a:r>
              <a:rPr lang="en-IN" sz="2400" b="1" dirty="0"/>
              <a:t>Visualization:</a:t>
            </a:r>
            <a:r>
              <a:rPr lang="en-IN" sz="2400" dirty="0"/>
              <a:t> </a:t>
            </a:r>
            <a:r>
              <a:rPr lang="en-IN" sz="2400" dirty="0" err="1"/>
              <a:t>Matplotlib</a:t>
            </a:r>
            <a:r>
              <a:rPr lang="en-IN" sz="2400" dirty="0"/>
              <a:t/>
            </a:r>
            <a:br>
              <a:rPr lang="en-IN" sz="2400" dirty="0"/>
            </a:br>
            <a:r>
              <a:rPr lang="en-IN" sz="2400" b="1" dirty="0"/>
              <a:t>Monitoring:</a:t>
            </a:r>
            <a:r>
              <a:rPr lang="en-IN" sz="2400" dirty="0"/>
              <a:t> Watchdog</a:t>
            </a:r>
            <a:br>
              <a:rPr lang="en-IN" sz="2400" dirty="0"/>
            </a:br>
            <a:r>
              <a:rPr lang="en-IN" sz="2400" b="1" dirty="0"/>
              <a:t>Dataset:</a:t>
            </a:r>
            <a:r>
              <a:rPr lang="en-IN" sz="2400" dirty="0"/>
              <a:t> </a:t>
            </a:r>
            <a:r>
              <a:rPr lang="en-IN" sz="2400" dirty="0" err="1"/>
              <a:t>Kaggle</a:t>
            </a:r>
            <a:r>
              <a:rPr lang="en-IN" sz="2400" dirty="0"/>
              <a:t> Server Log Dataset</a:t>
            </a:r>
          </a:p>
        </p:txBody>
      </p:sp>
    </p:spTree>
    <p:extLst>
      <p:ext uri="{BB962C8B-B14F-4D97-AF65-F5344CB8AC3E}">
        <p14:creationId xmlns:p14="http://schemas.microsoft.com/office/powerpoint/2010/main" val="22021686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CONCLUSION</a:t>
            </a:r>
            <a:endParaRPr lang="en-IN" dirty="0"/>
          </a:p>
        </p:txBody>
      </p:sp>
      <p:sp>
        <p:nvSpPr>
          <p:cNvPr id="3" name="Content Placeholder 2"/>
          <p:cNvSpPr>
            <a:spLocks noGrp="1"/>
          </p:cNvSpPr>
          <p:nvPr>
            <p:ph idx="1"/>
          </p:nvPr>
        </p:nvSpPr>
        <p:spPr/>
        <p:txBody>
          <a:bodyPr/>
          <a:lstStyle/>
          <a:p>
            <a:pPr>
              <a:buFont typeface="Arial" panose="020B0604020202020204" pitchFamily="34" charset="0"/>
              <a:buChar char="•"/>
            </a:pPr>
            <a:r>
              <a:rPr lang="en-US" dirty="0"/>
              <a:t>The Log Analysis System helps system administrators analyze millions of server log entries quickly and easily. It uses efficient string matching algorithms to find predefined error patterns, count their frequency, and classify them based on severity.</a:t>
            </a:r>
          </a:p>
          <a:p>
            <a:pPr>
              <a:buFont typeface="Arial" panose="020B0604020202020204" pitchFamily="34" charset="0"/>
              <a:buChar char="•"/>
            </a:pPr>
            <a:r>
              <a:rPr lang="en-US" dirty="0"/>
              <a:t>The system reduces manual effort and analysis time and helps administrators identify recurring and critical errors faster. Continuous log monitoring also allows new errors to be detected as they occur.</a:t>
            </a:r>
          </a:p>
        </p:txBody>
      </p:sp>
    </p:spTree>
    <p:extLst>
      <p:ext uri="{BB962C8B-B14F-4D97-AF65-F5344CB8AC3E}">
        <p14:creationId xmlns:p14="http://schemas.microsoft.com/office/powerpoint/2010/main" val="1128545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FUTURE SCOPE</a:t>
            </a:r>
            <a:endParaRPr lang="en-IN" dirty="0"/>
          </a:p>
        </p:txBody>
      </p:sp>
      <p:sp>
        <p:nvSpPr>
          <p:cNvPr id="4" name="Rectangle 1"/>
          <p:cNvSpPr>
            <a:spLocks noGrp="1" noChangeArrowheads="1"/>
          </p:cNvSpPr>
          <p:nvPr>
            <p:ph idx="1"/>
          </p:nvPr>
        </p:nvSpPr>
        <p:spPr bwMode="auto">
          <a:xfrm>
            <a:off x="294968" y="1763457"/>
            <a:ext cx="11145366"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ClrTx/>
              <a:buNone/>
            </a:pPr>
            <a:r>
              <a:rPr kumimoji="0" lang="en-US" altLang="en-US" sz="2400" b="1" i="0" u="none" strike="noStrike" cap="none" normalizeH="0" baseline="0" dirty="0" smtClean="0">
                <a:ln>
                  <a:noFill/>
                </a:ln>
                <a:solidFill>
                  <a:schemeClr val="tx1"/>
                </a:solidFill>
                <a:effectLst/>
              </a:rPr>
              <a:t>Real-time monitoring:</a:t>
            </a:r>
            <a:r>
              <a:rPr kumimoji="0" lang="en-US" altLang="en-US" sz="2400" b="0" i="0" u="none" strike="noStrike" cap="none" normalizeH="0" baseline="0" dirty="0" smtClean="0">
                <a:ln>
                  <a:noFill/>
                </a:ln>
                <a:solidFill>
                  <a:schemeClr val="tx1"/>
                </a:solidFill>
                <a:effectLst/>
              </a:rPr>
              <a:t> The system can watch logs continuously and show new errors immediately. </a:t>
            </a:r>
          </a:p>
          <a:p>
            <a:pPr marL="0" indent="0" eaLnBrk="0" fontAlgn="base" hangingPunct="0">
              <a:lnSpc>
                <a:spcPct val="100000"/>
              </a:lnSpc>
              <a:spcBef>
                <a:spcPct val="0"/>
              </a:spcBef>
              <a:spcAft>
                <a:spcPct val="0"/>
              </a:spcAft>
              <a:buClrTx/>
              <a:buNone/>
            </a:pPr>
            <a:r>
              <a:rPr kumimoji="0" lang="en-US" altLang="en-US" sz="2400" b="1" i="0" u="none" strike="noStrike" cap="none" normalizeH="0" baseline="0" dirty="0" smtClean="0">
                <a:ln>
                  <a:noFill/>
                </a:ln>
                <a:solidFill>
                  <a:schemeClr val="tx1"/>
                </a:solidFill>
                <a:effectLst/>
              </a:rPr>
              <a:t>AI integration:</a:t>
            </a:r>
            <a:r>
              <a:rPr kumimoji="0" lang="en-US" altLang="en-US" sz="2400" b="0" i="0" u="none" strike="noStrike" cap="none" normalizeH="0" baseline="0" dirty="0" smtClean="0">
                <a:ln>
                  <a:noFill/>
                </a:ln>
                <a:solidFill>
                  <a:schemeClr val="tx1"/>
                </a:solidFill>
                <a:effectLst/>
              </a:rPr>
              <a:t> AI can be used to find unusual errors automatically.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smtClean="0">
                <a:ln>
                  <a:noFill/>
                </a:ln>
                <a:solidFill>
                  <a:schemeClr val="tx1"/>
                </a:solidFill>
                <a:effectLst/>
              </a:rPr>
              <a:t>Error alerts:</a:t>
            </a:r>
            <a:r>
              <a:rPr kumimoji="0" lang="en-US" altLang="en-US" sz="2400" b="0" i="0" u="none" strike="noStrike" cap="none" normalizeH="0" baseline="0" dirty="0" smtClean="0">
                <a:ln>
                  <a:noFill/>
                </a:ln>
                <a:solidFill>
                  <a:schemeClr val="tx1"/>
                </a:solidFill>
                <a:effectLst/>
              </a:rPr>
              <a:t> The system can send alerts when a serious error occurs.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smtClean="0">
                <a:ln>
                  <a:noFill/>
                </a:ln>
                <a:solidFill>
                  <a:schemeClr val="tx1"/>
                </a:solidFill>
                <a:effectLst/>
              </a:rPr>
              <a:t>Better reports:</a:t>
            </a:r>
            <a:r>
              <a:rPr kumimoji="0" lang="en-US" altLang="en-US" sz="2400" b="0" i="0" u="none" strike="noStrike" cap="none" normalizeH="0" baseline="0" dirty="0" smtClean="0">
                <a:ln>
                  <a:noFill/>
                </a:ln>
                <a:solidFill>
                  <a:schemeClr val="tx1"/>
                </a:solidFill>
                <a:effectLst/>
              </a:rPr>
              <a:t> More detailed charts and reports can be added.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smtClean="0">
                <a:ln>
                  <a:noFill/>
                </a:ln>
                <a:solidFill>
                  <a:schemeClr val="tx1"/>
                </a:solidFill>
                <a:effectLst/>
              </a:rPr>
              <a:t>Cloud support:</a:t>
            </a:r>
            <a:r>
              <a:rPr kumimoji="0" lang="en-US" altLang="en-US" sz="2400" b="0" i="0" u="none" strike="noStrike" cap="none" normalizeH="0" baseline="0" dirty="0" smtClean="0">
                <a:ln>
                  <a:noFill/>
                </a:ln>
                <a:solidFill>
                  <a:schemeClr val="tx1"/>
                </a:solidFill>
                <a:effectLst/>
              </a:rPr>
              <a:t> The system can analyze logs stored on cloud servers.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smtClean="0">
                <a:ln>
                  <a:noFill/>
                </a:ln>
                <a:solidFill>
                  <a:schemeClr val="tx1"/>
                </a:solidFill>
                <a:effectLst/>
              </a:rPr>
              <a:t>Failure prediction:</a:t>
            </a:r>
            <a:r>
              <a:rPr kumimoji="0" lang="en-US" altLang="en-US" sz="2400" b="0" i="0" u="none" strike="noStrike" cap="none" normalizeH="0" baseline="0" dirty="0" smtClean="0">
                <a:ln>
                  <a:noFill/>
                </a:ln>
                <a:solidFill>
                  <a:schemeClr val="tx1"/>
                </a:solidFill>
                <a:effectLst/>
              </a:rPr>
              <a:t> It can predict possible system problems before they happen.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smtClean="0">
                <a:ln>
                  <a:noFill/>
                </a:ln>
                <a:solidFill>
                  <a:schemeClr val="tx1"/>
                </a:solidFill>
                <a:effectLst/>
              </a:rPr>
              <a:t>More log formats:</a:t>
            </a:r>
            <a:r>
              <a:rPr kumimoji="0" lang="en-US" altLang="en-US" sz="2400" b="0" i="0" u="none" strike="noStrike" cap="none" normalizeH="0" baseline="0" dirty="0" smtClean="0">
                <a:ln>
                  <a:noFill/>
                </a:ln>
                <a:solidFill>
                  <a:schemeClr val="tx1"/>
                </a:solidFill>
                <a:effectLst/>
              </a:rPr>
              <a:t> It can support logs from different servers and applications.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smtClean="0">
                <a:ln>
                  <a:noFill/>
                </a:ln>
                <a:solidFill>
                  <a:schemeClr val="tx1"/>
                </a:solidFill>
                <a:effectLst/>
              </a:rPr>
              <a:t>Automatic problem finding:</a:t>
            </a:r>
            <a:r>
              <a:rPr kumimoji="0" lang="en-US" altLang="en-US" sz="2400" b="0" i="0" u="none" strike="noStrike" cap="none" normalizeH="0" baseline="0" dirty="0" smtClean="0">
                <a:ln>
                  <a:noFill/>
                </a:ln>
                <a:solidFill>
                  <a:schemeClr val="tx1"/>
                </a:solidFill>
                <a:effectLst/>
              </a:rPr>
              <a:t> The system can help identify the main reason for an error. </a:t>
            </a:r>
          </a:p>
        </p:txBody>
      </p:sp>
    </p:spTree>
    <p:extLst>
      <p:ext uri="{BB962C8B-B14F-4D97-AF65-F5344CB8AC3E}">
        <p14:creationId xmlns:p14="http://schemas.microsoft.com/office/powerpoint/2010/main" val="33092465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81168" y="2488892"/>
            <a:ext cx="4294239" cy="1325563"/>
          </a:xfrm>
        </p:spPr>
        <p:txBody>
          <a:bodyPr/>
          <a:lstStyle/>
          <a:p>
            <a:r>
              <a:rPr lang="en-IN" dirty="0" smtClean="0">
                <a:latin typeface="+mn-lt"/>
              </a:rPr>
              <a:t>THANK YOU</a:t>
            </a:r>
            <a:endParaRPr lang="en-IN" dirty="0">
              <a:latin typeface="+mn-lt"/>
            </a:endParaRPr>
          </a:p>
        </p:txBody>
      </p:sp>
    </p:spTree>
    <p:extLst>
      <p:ext uri="{BB962C8B-B14F-4D97-AF65-F5344CB8AC3E}">
        <p14:creationId xmlns:p14="http://schemas.microsoft.com/office/powerpoint/2010/main" val="2257089139"/>
      </p:ext>
    </p:extLst>
  </p:cSld>
  <p:clrMapOvr>
    <a:masterClrMapping/>
  </p:clrMapOvr>
</p:sld>
</file>

<file path=ppt/theme/theme1.xml><?xml version="1.0" encoding="utf-8"?>
<a:theme xmlns:a="http://schemas.openxmlformats.org/drawingml/2006/main" name="ExploreVTI">
  <a:themeElements>
    <a:clrScheme name="Custom 33">
      <a:dk1>
        <a:sysClr val="windowText" lastClr="000000"/>
      </a:dk1>
      <a:lt1>
        <a:sysClr val="window" lastClr="FFFFFF"/>
      </a:lt1>
      <a:dk2>
        <a:srgbClr val="201449"/>
      </a:dk2>
      <a:lt2>
        <a:srgbClr val="F3F0E9"/>
      </a:lt2>
      <a:accent1>
        <a:srgbClr val="E45221"/>
      </a:accent1>
      <a:accent2>
        <a:srgbClr val="4D4EE6"/>
      </a:accent2>
      <a:accent3>
        <a:srgbClr val="454B78"/>
      </a:accent3>
      <a:accent4>
        <a:srgbClr val="A3A3C1"/>
      </a:accent4>
      <a:accent5>
        <a:srgbClr val="7162FE"/>
      </a:accent5>
      <a:accent6>
        <a:srgbClr val="1EBE9B"/>
      </a:accent6>
      <a:hlink>
        <a:srgbClr val="F900A0"/>
      </a:hlink>
      <a:folHlink>
        <a:srgbClr val="954F72"/>
      </a:folHlink>
    </a:clrScheme>
    <a:fontScheme name="Custom 23">
      <a:majorFont>
        <a:latin typeface="Posterama"/>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xploreVTI" id="{157DDAE2-BFCD-43FD-9602-E5EFEAD66DC3}" vid="{04B6EBF8-4645-4305-9753-050B4204785C}"/>
    </a:ext>
  </a:extLst>
</a:theme>
</file>

<file path=docProps/app.xml><?xml version="1.0" encoding="utf-8"?>
<Properties xmlns="http://schemas.openxmlformats.org/officeDocument/2006/extended-properties" xmlns:vt="http://schemas.openxmlformats.org/officeDocument/2006/docPropsVTypes">
  <Template>Explore</Template>
  <TotalTime>410</TotalTime>
  <Words>1839</Words>
  <Application>Microsoft Office PowerPoint</Application>
  <PresentationFormat>Widescreen</PresentationFormat>
  <Paragraphs>170</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Avenir Next LT Pro</vt:lpstr>
      <vt:lpstr>AvenirNext LT Pro Medium</vt:lpstr>
      <vt:lpstr>Posterama</vt:lpstr>
      <vt:lpstr>Segoe UI Semilight</vt:lpstr>
      <vt:lpstr>ExploreVTI</vt:lpstr>
      <vt:lpstr>LOG ANALYSIS SYSTEM</vt:lpstr>
      <vt:lpstr>ABSTRACT</vt:lpstr>
      <vt:lpstr>INTRODUCTION</vt:lpstr>
      <vt:lpstr>PowerPoint Presentation</vt:lpstr>
      <vt:lpstr>LITERATURE AND GROUNDING</vt:lpstr>
      <vt:lpstr>PowerPoint Presentation</vt:lpstr>
      <vt:lpstr>PowerPoint Presentation</vt:lpstr>
      <vt:lpstr>PROBLEM DEFINITION</vt:lpstr>
      <vt:lpstr>PowerPoint Presentation</vt:lpstr>
      <vt:lpstr>PROBLEM METHODOLOGY</vt:lpstr>
      <vt:lpstr>PowerPoint Presentation</vt:lpstr>
      <vt:lpstr>PowerPoint Presentation</vt:lpstr>
      <vt:lpstr>OBJECTIVES</vt:lpstr>
      <vt:lpstr>REQUIREMENTS</vt:lpstr>
      <vt:lpstr>PowerPoint Presentation</vt:lpstr>
      <vt:lpstr>PowerPoint Presentation</vt:lpstr>
      <vt:lpstr>RESEARCHERS AND RELATED WORK</vt:lpstr>
      <vt:lpstr>PowerPoint Presentation</vt:lpstr>
      <vt:lpstr>FEATURES</vt:lpstr>
      <vt:lpstr>TECHNOLOGY STACK</vt:lpstr>
      <vt:lpstr>CONCLUSION</vt:lpstr>
      <vt:lpstr>FUTURE SCOPE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LOG ANALYSIS SYSTEM</dc:title>
  <dc:creator>MATTI AVISHYA</dc:creator>
  <cp:lastModifiedBy>Pragnya</cp:lastModifiedBy>
  <cp:revision>10</cp:revision>
  <dcterms:created xsi:type="dcterms:W3CDTF">2026-08-24T07:02:10Z</dcterms:created>
  <dcterms:modified xsi:type="dcterms:W3CDTF">2026-08-31T06:43:50Z</dcterms:modified>
</cp:coreProperties>
</file>